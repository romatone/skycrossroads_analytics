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1.xml" ContentType="application/vnd.openxmlformats-officedocument.themeOverr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charts/chart8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9.xml" ContentType="application/vnd.openxmlformats-officedocument.drawingml.chart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charts/chart10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charts/chart11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charts/chart12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1.xml" ContentType="application/vnd.openxmlformats-officedocument.presentationml.notesSlide+xml"/>
  <Override PartName="/ppt/charts/chart13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theme/themeOverride2.xml" ContentType="application/vnd.openxmlformats-officedocument.themeOverride+xml"/>
  <Override PartName="/ppt/charts/chart14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theme/themeOverride3.xml" ContentType="application/vnd.openxmlformats-officedocument.themeOverride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F8FA987B-F3D4-435E-A072-5AF630BA73AD}">
          <p14:sldIdLst>
            <p14:sldId id="256"/>
            <p14:sldId id="257"/>
          </p14:sldIdLst>
        </p14:section>
        <p14:section name="Анализ торговых точек 1-4 сентября" id="{CA44428B-1359-4403-A77F-7885AD22422D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Анализ торговых точек 5-7 сентября" id="{B112135A-C217-41E1-8AB9-80F9CCFC5C7E}">
          <p14:sldIdLst>
            <p14:sldId id="265"/>
            <p14:sldId id="267"/>
            <p14:sldId id="268"/>
            <p14:sldId id="269"/>
          </p14:sldIdLst>
        </p14:section>
        <p14:section name="Дашборды" id="{8D67ACC3-5E7F-4972-93C0-E7B3AFEF6106}">
          <p14:sldIdLst>
            <p14:sldId id="270"/>
            <p14:sldId id="271"/>
          </p14:sldIdLst>
        </p14:section>
        <p14:section name="Корректировка калькулятора" id="{9FD1E644-5AFE-4B3E-84D6-96C70D53D94E}">
          <p14:sldIdLst>
            <p14:sldId id="272"/>
            <p14:sldId id="273"/>
            <p14:sldId id="274"/>
            <p14:sldId id="27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&#1054;&#1073;&#1097;&#1072;&#1103;%20&#1087;&#1072;&#1087;&#1082;&#1072;\&#1084;&#1086;&#1080;%20&#1076;&#1086;&#1082;&#1080;\&#1089;&#1082;&#1072;&#1081;&#1087;&#1088;&#1086;\&#1076;&#1086;&#1084;&#1072;&#1096;&#1082;&#1072;\Transaction_list_&#1042;&#1072;&#1089;&#1080;&#1083;&#1100;&#1077;&#1074;_&#1040;.&#1042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&#1054;&#1073;&#1097;&#1072;&#1103;%20&#1087;&#1072;&#1087;&#1082;&#1072;\&#1084;&#1086;&#1080;%20&#1076;&#1086;&#1082;&#1080;\&#1089;&#1082;&#1072;&#1081;&#1087;&#1088;&#1086;\&#1076;&#1086;&#1084;&#1072;&#1096;&#1082;&#1072;\Transaction_list_&#1042;&#1072;&#1089;&#1080;&#1083;&#1100;&#1077;&#1074;_&#1040;.&#1042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&#1054;&#1073;&#1097;&#1072;&#1103;%20&#1087;&#1072;&#1087;&#1082;&#1072;\&#1084;&#1086;&#1080;%20&#1076;&#1086;&#1082;&#1080;\&#1089;&#1082;&#1072;&#1081;&#1087;&#1088;&#1086;\&#1076;&#1086;&#1084;&#1072;&#1096;&#1082;&#1072;\Transaction_list_&#1042;&#1072;&#1089;&#1080;&#1083;&#1100;&#1077;&#1074;_&#1040;.&#1042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package" Target="../embeddings/Microsoft_Excel_Worksheet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&#1054;&#1073;&#1097;&#1072;&#1103;%20&#1087;&#1072;&#1087;&#1082;&#1072;\&#1084;&#1086;&#1080;%20&#1076;&#1086;&#1082;&#1080;\&#1089;&#1082;&#1072;&#1081;&#1087;&#1088;&#1086;\&#1076;&#1086;&#1084;&#1072;&#1096;&#1082;&#1072;\Transaction_list_&#1042;&#1072;&#1089;&#1080;&#1083;&#1100;&#1077;&#1074;_&#1040;.&#1042;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&#1054;&#1073;&#1097;&#1072;&#1103;%20&#1087;&#1072;&#1087;&#1082;&#1072;\&#1084;&#1086;&#1080;%20&#1076;&#1086;&#1082;&#1080;\&#1089;&#1082;&#1072;&#1081;&#1087;&#1088;&#1086;\&#1076;&#1086;&#1084;&#1072;&#1096;&#1082;&#1072;\Transaction_list_&#1042;&#1072;&#1089;&#1080;&#1083;&#1100;&#1077;&#1074;_&#1040;.&#1042;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user\Desktop\&#1054;&#1073;&#1097;&#1072;&#1103;%20&#1087;&#1072;&#1087;&#1082;&#1072;\&#1084;&#1086;&#1080;%20&#1076;&#1086;&#1082;&#1080;\&#1089;&#1082;&#1072;&#1081;&#1087;&#1088;&#1086;\&#1076;&#1086;&#1084;&#1072;&#1096;&#1082;&#1072;\Transaction_list_&#1042;&#1072;&#1089;&#1080;&#1083;&#1100;&#1077;&#1074;_&#1040;.&#1042;.xlsx" TargetMode="Externa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&#1054;&#1073;&#1097;&#1072;&#1103;%20&#1087;&#1072;&#1087;&#1082;&#1072;\&#1084;&#1086;&#1080;%20&#1076;&#1086;&#1082;&#1080;\&#1089;&#1082;&#1072;&#1081;&#1087;&#1088;&#1086;\&#1076;&#1086;&#1084;&#1072;&#1096;&#1082;&#1072;\Transaction_list2_&#1042;&#1072;&#1089;&#1080;&#1083;&#1100;&#1077;&#1074;.&#1040;.&#1042;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user\Desktop\&#1054;&#1073;&#1097;&#1072;&#1103;%20&#1087;&#1072;&#1087;&#1082;&#1072;\&#1084;&#1086;&#1080;%20&#1076;&#1086;&#1082;&#1080;\&#1089;&#1082;&#1072;&#1081;&#1087;&#1088;&#1086;\&#1076;&#1086;&#1084;&#1072;&#1096;&#1082;&#1072;\Transaction_list2_&#1042;&#1072;&#1089;&#1080;&#1083;&#1100;&#1077;&#1074;.&#1040;.&#1042;.xlsx" TargetMode="Externa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&#1054;&#1073;&#1097;&#1072;&#1103;%20&#1087;&#1072;&#1087;&#1082;&#1072;\&#1084;&#1086;&#1080;%20&#1076;&#1086;&#1082;&#1080;\&#1089;&#1082;&#1072;&#1081;&#1087;&#1088;&#1086;\&#1076;&#1086;&#1084;&#1072;&#1096;&#1082;&#1072;\Transaction_list2_&#1042;&#1072;&#1089;&#1080;&#1083;&#1100;&#1077;&#1074;.&#1040;.&#1042;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&#1054;&#1073;&#1097;&#1072;&#1103;%20&#1087;&#1072;&#1087;&#1082;&#1072;\&#1084;&#1086;&#1080;%20&#1076;&#1086;&#1082;&#1080;\&#1089;&#1082;&#1072;&#1081;&#1087;&#1088;&#1086;\&#1076;&#1086;&#1084;&#1072;&#1096;&#1082;&#1072;\Transaction_list2_&#1042;&#1072;&#1089;&#1080;&#1083;&#1100;&#1077;&#1074;.&#1040;.&#1042;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&#1054;&#1073;&#1097;&#1072;&#1103;%20&#1087;&#1072;&#1087;&#1082;&#1072;\&#1084;&#1086;&#1080;%20&#1076;&#1086;&#1082;&#1080;\&#1089;&#1082;&#1072;&#1081;&#1087;&#1088;&#1086;\&#1076;&#1086;&#1084;&#1072;&#1096;&#1082;&#1072;\Transaction_list2_&#1042;&#1072;&#1089;&#1080;&#1083;&#1100;&#1077;&#1074;.&#1040;.&#1042;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11.xml"/><Relationship Id="rId1" Type="http://schemas.microsoft.com/office/2011/relationships/chartStyle" Target="style11.xml"/><Relationship Id="rId4" Type="http://schemas.openxmlformats.org/officeDocument/2006/relationships/oleObject" Target="file:///C:\Users\user\Desktop\&#1054;&#1073;&#1097;&#1072;&#1103;%20&#1087;&#1072;&#1087;&#1082;&#1072;\&#1084;&#1086;&#1080;%20&#1076;&#1086;&#1082;&#1080;\&#1089;&#1082;&#1072;&#1081;&#1087;&#1088;&#1086;\&#1076;&#1086;&#1084;&#1072;&#1096;&#1082;&#1072;\Transaction_list2_&#1042;&#1072;&#1089;&#1080;&#1083;&#1100;&#1077;&#1074;.&#1040;.&#1042;.xlsx" TargetMode="Externa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12.xml"/><Relationship Id="rId1" Type="http://schemas.microsoft.com/office/2011/relationships/chartStyle" Target="style12.xml"/><Relationship Id="rId4" Type="http://schemas.openxmlformats.org/officeDocument/2006/relationships/oleObject" Target="file:///C:\Users\user\Desktop\&#1054;&#1073;&#1097;&#1072;&#1103;%20&#1087;&#1072;&#1087;&#1082;&#1072;\&#1084;&#1086;&#1080;%20&#1076;&#1086;&#1082;&#1080;\&#1089;&#1082;&#1072;&#1081;&#1087;&#1088;&#1086;\&#1076;&#1086;&#1084;&#1072;&#1096;&#1082;&#1072;\Transaction_list2_&#1042;&#1072;&#1089;&#1080;&#1083;&#1100;&#1077;&#1074;.&#1040;.&#1042;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[Transaction_list_Васильев_А.В.xlsx]Количество транзакций!Сводная таблица1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Количество транзакций в динамике по ТТ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'Количество транзакций'!$B$3:$B$4</c:f>
              <c:strCache>
                <c:ptCount val="1"/>
                <c:pt idx="0">
                  <c:v>Ленинский пр-т, 162/1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'Количество транзакций'!$A$5:$A$9</c:f>
              <c:strCache>
                <c:ptCount val="4"/>
                <c:pt idx="0">
                  <c:v>01.сен</c:v>
                </c:pt>
                <c:pt idx="1">
                  <c:v>02.сен</c:v>
                </c:pt>
                <c:pt idx="2">
                  <c:v>03.сен</c:v>
                </c:pt>
                <c:pt idx="3">
                  <c:v>04.сен</c:v>
                </c:pt>
              </c:strCache>
            </c:strRef>
          </c:cat>
          <c:val>
            <c:numRef>
              <c:f>'Количество транзакций'!$B$5:$B$9</c:f>
              <c:numCache>
                <c:formatCode>General</c:formatCode>
                <c:ptCount val="4"/>
                <c:pt idx="0">
                  <c:v>2775</c:v>
                </c:pt>
                <c:pt idx="1">
                  <c:v>2798</c:v>
                </c:pt>
                <c:pt idx="2">
                  <c:v>2615</c:v>
                </c:pt>
                <c:pt idx="3">
                  <c:v>2655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94E-4638-80C6-DF7F7092B1BC}"/>
            </c:ext>
          </c:extLst>
        </c:ser>
        <c:ser>
          <c:idx val="1"/>
          <c:order val="1"/>
          <c:tx>
            <c:strRef>
              <c:f>'Количество транзакций'!$C$3:$C$4</c:f>
              <c:strCache>
                <c:ptCount val="1"/>
                <c:pt idx="0">
                  <c:v>пр-т Вернадского, 88к3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'Количество транзакций'!$A$5:$A$9</c:f>
              <c:strCache>
                <c:ptCount val="4"/>
                <c:pt idx="0">
                  <c:v>01.сен</c:v>
                </c:pt>
                <c:pt idx="1">
                  <c:v>02.сен</c:v>
                </c:pt>
                <c:pt idx="2">
                  <c:v>03.сен</c:v>
                </c:pt>
                <c:pt idx="3">
                  <c:v>04.сен</c:v>
                </c:pt>
              </c:strCache>
            </c:strRef>
          </c:cat>
          <c:val>
            <c:numRef>
              <c:f>'Количество транзакций'!$C$5:$C$9</c:f>
              <c:numCache>
                <c:formatCode>General</c:formatCode>
                <c:ptCount val="4"/>
                <c:pt idx="0">
                  <c:v>1692</c:v>
                </c:pt>
                <c:pt idx="1">
                  <c:v>1687</c:v>
                </c:pt>
                <c:pt idx="2">
                  <c:v>1657</c:v>
                </c:pt>
                <c:pt idx="3">
                  <c:v>1593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94E-4638-80C6-DF7F7092B1BC}"/>
            </c:ext>
          </c:extLst>
        </c:ser>
        <c:ser>
          <c:idx val="2"/>
          <c:order val="2"/>
          <c:tx>
            <c:strRef>
              <c:f>'Количество транзакций'!$D$3:$D$4</c:f>
              <c:strCache>
                <c:ptCount val="1"/>
                <c:pt idx="0">
                  <c:v>Ракетный б-р, 14к1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'Количество транзакций'!$A$5:$A$9</c:f>
              <c:strCache>
                <c:ptCount val="4"/>
                <c:pt idx="0">
                  <c:v>01.сен</c:v>
                </c:pt>
                <c:pt idx="1">
                  <c:v>02.сен</c:v>
                </c:pt>
                <c:pt idx="2">
                  <c:v>03.сен</c:v>
                </c:pt>
                <c:pt idx="3">
                  <c:v>04.сен</c:v>
                </c:pt>
              </c:strCache>
            </c:strRef>
          </c:cat>
          <c:val>
            <c:numRef>
              <c:f>'Количество транзакций'!$D$5:$D$9</c:f>
              <c:numCache>
                <c:formatCode>General</c:formatCode>
                <c:ptCount val="4"/>
                <c:pt idx="0">
                  <c:v>1408</c:v>
                </c:pt>
                <c:pt idx="1">
                  <c:v>1482</c:v>
                </c:pt>
                <c:pt idx="2">
                  <c:v>1388</c:v>
                </c:pt>
                <c:pt idx="3">
                  <c:v>1326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94E-4638-80C6-DF7F7092B1BC}"/>
            </c:ext>
          </c:extLst>
        </c:ser>
        <c:ser>
          <c:idx val="3"/>
          <c:order val="3"/>
          <c:tx>
            <c:strRef>
              <c:f>'Количество транзакций'!$E$3:$E$4</c:f>
              <c:strCache>
                <c:ptCount val="1"/>
                <c:pt idx="0">
                  <c:v>Симферопольский б-р, 22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'Количество транзакций'!$A$5:$A$9</c:f>
              <c:strCache>
                <c:ptCount val="4"/>
                <c:pt idx="0">
                  <c:v>01.сен</c:v>
                </c:pt>
                <c:pt idx="1">
                  <c:v>02.сен</c:v>
                </c:pt>
                <c:pt idx="2">
                  <c:v>03.сен</c:v>
                </c:pt>
                <c:pt idx="3">
                  <c:v>04.сен</c:v>
                </c:pt>
              </c:strCache>
            </c:strRef>
          </c:cat>
          <c:val>
            <c:numRef>
              <c:f>'Количество транзакций'!$E$5:$E$9</c:f>
              <c:numCache>
                <c:formatCode>General</c:formatCode>
                <c:ptCount val="4"/>
                <c:pt idx="0">
                  <c:v>855</c:v>
                </c:pt>
                <c:pt idx="1">
                  <c:v>910</c:v>
                </c:pt>
                <c:pt idx="2">
                  <c:v>227</c:v>
                </c:pt>
                <c:pt idx="3">
                  <c:v>293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94E-4638-80C6-DF7F7092B1BC}"/>
            </c:ext>
          </c:extLst>
        </c:ser>
        <c:ser>
          <c:idx val="4"/>
          <c:order val="4"/>
          <c:tx>
            <c:strRef>
              <c:f>'Количество транзакций'!$F$3:$F$4</c:f>
              <c:strCache>
                <c:ptCount val="1"/>
                <c:pt idx="0">
                  <c:v>ул. Чертановская,  20к2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'Количество транзакций'!$A$5:$A$9</c:f>
              <c:strCache>
                <c:ptCount val="4"/>
                <c:pt idx="0">
                  <c:v>01.сен</c:v>
                </c:pt>
                <c:pt idx="1">
                  <c:v>02.сен</c:v>
                </c:pt>
                <c:pt idx="2">
                  <c:v>03.сен</c:v>
                </c:pt>
                <c:pt idx="3">
                  <c:v>04.сен</c:v>
                </c:pt>
              </c:strCache>
            </c:strRef>
          </c:cat>
          <c:val>
            <c:numRef>
              <c:f>'Количество транзакций'!$F$5:$F$9</c:f>
              <c:numCache>
                <c:formatCode>General</c:formatCode>
                <c:ptCount val="4"/>
                <c:pt idx="2">
                  <c:v>1823</c:v>
                </c:pt>
                <c:pt idx="3">
                  <c:v>3172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94E-4638-80C6-DF7F7092B1BC}"/>
            </c:ext>
          </c:extLst>
        </c:ser>
        <c:ser>
          <c:idx val="5"/>
          <c:order val="5"/>
          <c:tx>
            <c:strRef>
              <c:f>'Количество транзакций'!$G$3:$G$4</c:f>
              <c:strCache>
                <c:ptCount val="1"/>
                <c:pt idx="0">
                  <c:v>ул. Щорса, 26/3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'Количество транзакций'!$A$5:$A$9</c:f>
              <c:strCache>
                <c:ptCount val="4"/>
                <c:pt idx="0">
                  <c:v>01.сен</c:v>
                </c:pt>
                <c:pt idx="1">
                  <c:v>02.сен</c:v>
                </c:pt>
                <c:pt idx="2">
                  <c:v>03.сен</c:v>
                </c:pt>
                <c:pt idx="3">
                  <c:v>04.сен</c:v>
                </c:pt>
              </c:strCache>
            </c:strRef>
          </c:cat>
          <c:val>
            <c:numRef>
              <c:f>'Количество транзакций'!$G$5:$G$9</c:f>
              <c:numCache>
                <c:formatCode>General</c:formatCode>
                <c:ptCount val="4"/>
                <c:pt idx="0">
                  <c:v>1119</c:v>
                </c:pt>
                <c:pt idx="1">
                  <c:v>1070</c:v>
                </c:pt>
                <c:pt idx="2">
                  <c:v>1079</c:v>
                </c:pt>
                <c:pt idx="3">
                  <c:v>1036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D94E-4638-80C6-DF7F7092B1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82214992"/>
        <c:axId val="1082216432"/>
      </c:barChart>
      <c:catAx>
        <c:axId val="10822149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82216432"/>
        <c:crosses val="autoZero"/>
        <c:auto val="1"/>
        <c:lblAlgn val="ctr"/>
        <c:lblOffset val="100"/>
        <c:noMultiLvlLbl val="0"/>
      </c:catAx>
      <c:valAx>
        <c:axId val="10822164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822149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[Transaction_list_Васильев_А.В.xlsx]Нагрузка на сервера!Сводная таблица3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Нагрузка на сервера в динамике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'Нагрузка на сервера'!$B$3:$B$4</c:f>
              <c:strCache>
                <c:ptCount val="1"/>
                <c:pt idx="0">
                  <c:v>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'Нагрузка на сервера'!$A$5:$A$9</c:f>
              <c:strCache>
                <c:ptCount val="4"/>
                <c:pt idx="0">
                  <c:v>01.сен</c:v>
                </c:pt>
                <c:pt idx="1">
                  <c:v>02.сен</c:v>
                </c:pt>
                <c:pt idx="2">
                  <c:v>03.сен</c:v>
                </c:pt>
                <c:pt idx="3">
                  <c:v>04.сен</c:v>
                </c:pt>
              </c:strCache>
            </c:strRef>
          </c:cat>
          <c:val>
            <c:numRef>
              <c:f>'Нагрузка на сервера'!$B$5:$B$9</c:f>
              <c:numCache>
                <c:formatCode>General</c:formatCode>
                <c:ptCount val="4"/>
                <c:pt idx="0">
                  <c:v>1974</c:v>
                </c:pt>
                <c:pt idx="1">
                  <c:v>1980</c:v>
                </c:pt>
                <c:pt idx="2">
                  <c:v>1306</c:v>
                </c:pt>
                <c:pt idx="3">
                  <c:v>1329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C22-47DA-8F41-7E6012BED5A2}"/>
            </c:ext>
          </c:extLst>
        </c:ser>
        <c:ser>
          <c:idx val="1"/>
          <c:order val="1"/>
          <c:tx>
            <c:strRef>
              <c:f>'Нагрузка на сервера'!$C$3:$C$4</c:f>
              <c:strCache>
                <c:ptCount val="1"/>
                <c:pt idx="0">
                  <c:v>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'Нагрузка на сервера'!$A$5:$A$9</c:f>
              <c:strCache>
                <c:ptCount val="4"/>
                <c:pt idx="0">
                  <c:v>01.сен</c:v>
                </c:pt>
                <c:pt idx="1">
                  <c:v>02.сен</c:v>
                </c:pt>
                <c:pt idx="2">
                  <c:v>03.сен</c:v>
                </c:pt>
                <c:pt idx="3">
                  <c:v>04.сен</c:v>
                </c:pt>
              </c:strCache>
            </c:strRef>
          </c:cat>
          <c:val>
            <c:numRef>
              <c:f>'Нагрузка на сервера'!$C$5:$C$9</c:f>
              <c:numCache>
                <c:formatCode>General</c:formatCode>
                <c:ptCount val="4"/>
                <c:pt idx="0">
                  <c:v>4467</c:v>
                </c:pt>
                <c:pt idx="1">
                  <c:v>4485</c:v>
                </c:pt>
                <c:pt idx="2">
                  <c:v>4272</c:v>
                </c:pt>
                <c:pt idx="3">
                  <c:v>4248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C22-47DA-8F41-7E6012BED5A2}"/>
            </c:ext>
          </c:extLst>
        </c:ser>
        <c:ser>
          <c:idx val="2"/>
          <c:order val="2"/>
          <c:tx>
            <c:strRef>
              <c:f>'Нагрузка на сервера'!$D$3:$D$4</c:f>
              <c:strCache>
                <c:ptCount val="1"/>
                <c:pt idx="0">
                  <c:v>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'Нагрузка на сервера'!$A$5:$A$9</c:f>
              <c:strCache>
                <c:ptCount val="4"/>
                <c:pt idx="0">
                  <c:v>01.сен</c:v>
                </c:pt>
                <c:pt idx="1">
                  <c:v>02.сен</c:v>
                </c:pt>
                <c:pt idx="2">
                  <c:v>03.сен</c:v>
                </c:pt>
                <c:pt idx="3">
                  <c:v>04.сен</c:v>
                </c:pt>
              </c:strCache>
            </c:strRef>
          </c:cat>
          <c:val>
            <c:numRef>
              <c:f>'Нагрузка на сервера'!$D$5:$D$9</c:f>
              <c:numCache>
                <c:formatCode>General</c:formatCode>
                <c:ptCount val="4"/>
                <c:pt idx="0">
                  <c:v>1408</c:v>
                </c:pt>
                <c:pt idx="1">
                  <c:v>1482</c:v>
                </c:pt>
                <c:pt idx="2">
                  <c:v>3211</c:v>
                </c:pt>
                <c:pt idx="3">
                  <c:v>4498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C22-47DA-8F41-7E6012BED5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27462496"/>
        <c:axId val="427468736"/>
      </c:lineChart>
      <c:catAx>
        <c:axId val="4274624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27468736"/>
        <c:crosses val="autoZero"/>
        <c:auto val="1"/>
        <c:lblAlgn val="ctr"/>
        <c:lblOffset val="100"/>
        <c:noMultiLvlLbl val="0"/>
      </c:catAx>
      <c:valAx>
        <c:axId val="4274687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274624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[Transaction_list_Васильев_А.В.xlsx]Нагрузка на сервера!Сводная таблица4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/>
              <a:t>Нагрузка</a:t>
            </a:r>
            <a:r>
              <a:rPr lang="ru-RU" baseline="0" dirty="0"/>
              <a:t> на сервера после переноса точки Ракетный б-р, 14к1 с 3-его на 1-ый сервер</a:t>
            </a:r>
            <a:endParaRPr lang="ru-RU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'Нагрузка на сервера'!$B$30:$B$31</c:f>
              <c:strCache>
                <c:ptCount val="1"/>
                <c:pt idx="0">
                  <c:v>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'Нагрузка на сервера'!$A$32:$A$36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'Нагрузка на сервера'!$B$32:$B$36</c:f>
              <c:numCache>
                <c:formatCode>General</c:formatCode>
                <c:ptCount val="4"/>
                <c:pt idx="0">
                  <c:v>1974</c:v>
                </c:pt>
                <c:pt idx="1">
                  <c:v>1980</c:v>
                </c:pt>
                <c:pt idx="2">
                  <c:v>2694</c:v>
                </c:pt>
                <c:pt idx="3">
                  <c:v>2655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195-42E6-AC56-4D8FD5E85898}"/>
            </c:ext>
          </c:extLst>
        </c:ser>
        <c:ser>
          <c:idx val="1"/>
          <c:order val="1"/>
          <c:tx>
            <c:strRef>
              <c:f>'Нагрузка на сервера'!$C$30:$C$31</c:f>
              <c:strCache>
                <c:ptCount val="1"/>
                <c:pt idx="0">
                  <c:v>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'Нагрузка на сервера'!$A$32:$A$36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'Нагрузка на сервера'!$C$32:$C$36</c:f>
              <c:numCache>
                <c:formatCode>General</c:formatCode>
                <c:ptCount val="4"/>
                <c:pt idx="0">
                  <c:v>4467</c:v>
                </c:pt>
                <c:pt idx="1">
                  <c:v>4485</c:v>
                </c:pt>
                <c:pt idx="2">
                  <c:v>4272</c:v>
                </c:pt>
                <c:pt idx="3">
                  <c:v>4248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195-42E6-AC56-4D8FD5E85898}"/>
            </c:ext>
          </c:extLst>
        </c:ser>
        <c:ser>
          <c:idx val="2"/>
          <c:order val="2"/>
          <c:tx>
            <c:strRef>
              <c:f>'Нагрузка на сервера'!$D$30:$D$31</c:f>
              <c:strCache>
                <c:ptCount val="1"/>
                <c:pt idx="0">
                  <c:v>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'Нагрузка на сервера'!$A$32:$A$36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'Нагрузка на сервера'!$D$32:$D$36</c:f>
              <c:numCache>
                <c:formatCode>General</c:formatCode>
                <c:ptCount val="4"/>
                <c:pt idx="0">
                  <c:v>1408</c:v>
                </c:pt>
                <c:pt idx="1">
                  <c:v>1482</c:v>
                </c:pt>
                <c:pt idx="2">
                  <c:v>1823</c:v>
                </c:pt>
                <c:pt idx="3">
                  <c:v>3172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195-42E6-AC56-4D8FD5E858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14458928"/>
        <c:axId val="614458448"/>
      </c:lineChart>
      <c:catAx>
        <c:axId val="614458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14458448"/>
        <c:crosses val="autoZero"/>
        <c:auto val="1"/>
        <c:lblAlgn val="ctr"/>
        <c:lblOffset val="100"/>
        <c:noMultiLvlLbl val="0"/>
      </c:catAx>
      <c:valAx>
        <c:axId val="614458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144589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[Transaction_list_Васильев_А.В.xlsx]Аномалия 1 сентября!Сводная таблица11</c:name>
    <c:fmtId val="2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400" b="0" i="0" u="none" strike="noStrike" baseline="0">
                <a:effectLst/>
              </a:rPr>
              <a:t>Средняя длительность транзакций по адресам ТТ</a:t>
            </a:r>
            <a:endParaRPr lang="ru-RU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'Аномалия 1 сентября'!$B$3:$B$4</c:f>
              <c:strCache>
                <c:ptCount val="1"/>
                <c:pt idx="0">
                  <c:v>Ленинский пр-т, 162/1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'Аномалия 1 сентября'!$A$5:$A$28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'Аномалия 1 сентября'!$B$5:$B$28</c:f>
              <c:numCache>
                <c:formatCode>0.00</c:formatCode>
                <c:ptCount val="24"/>
                <c:pt idx="0">
                  <c:v>75.737175725595051</c:v>
                </c:pt>
                <c:pt idx="1">
                  <c:v>71.883535377273063</c:v>
                </c:pt>
                <c:pt idx="2">
                  <c:v>70.592428915193437</c:v>
                </c:pt>
                <c:pt idx="3">
                  <c:v>76.181364561866332</c:v>
                </c:pt>
                <c:pt idx="4">
                  <c:v>74.748272726634127</c:v>
                </c:pt>
                <c:pt idx="5">
                  <c:v>71.223614189181134</c:v>
                </c:pt>
                <c:pt idx="6">
                  <c:v>68.763806068087177</c:v>
                </c:pt>
                <c:pt idx="7">
                  <c:v>71.156359129467887</c:v>
                </c:pt>
                <c:pt idx="8">
                  <c:v>70.15971665136189</c:v>
                </c:pt>
                <c:pt idx="9">
                  <c:v>70.556615448606181</c:v>
                </c:pt>
                <c:pt idx="10">
                  <c:v>71.06674023074568</c:v>
                </c:pt>
                <c:pt idx="11">
                  <c:v>95.26415943880292</c:v>
                </c:pt>
                <c:pt idx="12">
                  <c:v>100.09089758458633</c:v>
                </c:pt>
                <c:pt idx="13">
                  <c:v>99.792621570331946</c:v>
                </c:pt>
                <c:pt idx="14">
                  <c:v>101.31450093568853</c:v>
                </c:pt>
                <c:pt idx="15">
                  <c:v>101.89993261984948</c:v>
                </c:pt>
                <c:pt idx="16">
                  <c:v>67.96429065174344</c:v>
                </c:pt>
                <c:pt idx="17">
                  <c:v>68.473337833816487</c:v>
                </c:pt>
                <c:pt idx="18">
                  <c:v>72.233482749644452</c:v>
                </c:pt>
                <c:pt idx="19">
                  <c:v>74.298258744645864</c:v>
                </c:pt>
                <c:pt idx="20">
                  <c:v>71.505108516772879</c:v>
                </c:pt>
                <c:pt idx="21">
                  <c:v>70.975829345401877</c:v>
                </c:pt>
                <c:pt idx="22">
                  <c:v>71.508888918389047</c:v>
                </c:pt>
                <c:pt idx="23">
                  <c:v>71.821593536878936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D6A-4581-AB48-50312702A9E0}"/>
            </c:ext>
          </c:extLst>
        </c:ser>
        <c:ser>
          <c:idx val="1"/>
          <c:order val="1"/>
          <c:tx>
            <c:strRef>
              <c:f>'Аномалия 1 сентября'!$C$3:$C$4</c:f>
              <c:strCache>
                <c:ptCount val="1"/>
                <c:pt idx="0">
                  <c:v>пр-т Вернадского, 88к3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'Аномалия 1 сентября'!$A$5:$A$28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'Аномалия 1 сентября'!$C$5:$C$28</c:f>
              <c:numCache>
                <c:formatCode>0.00</c:formatCode>
                <c:ptCount val="24"/>
                <c:pt idx="0">
                  <c:v>86.389157404892984</c:v>
                </c:pt>
                <c:pt idx="1">
                  <c:v>93.75424206564378</c:v>
                </c:pt>
                <c:pt idx="2">
                  <c:v>92.735465725316956</c:v>
                </c:pt>
                <c:pt idx="3">
                  <c:v>86.900278062903851</c:v>
                </c:pt>
                <c:pt idx="4">
                  <c:v>91.69490634537253</c:v>
                </c:pt>
                <c:pt idx="5">
                  <c:v>84.848050394938284</c:v>
                </c:pt>
                <c:pt idx="6">
                  <c:v>92.532592458045627</c:v>
                </c:pt>
                <c:pt idx="7">
                  <c:v>84.267219397124109</c:v>
                </c:pt>
                <c:pt idx="8">
                  <c:v>91.13607998641038</c:v>
                </c:pt>
                <c:pt idx="9">
                  <c:v>88.567015150101241</c:v>
                </c:pt>
                <c:pt idx="10">
                  <c:v>89.353083570172345</c:v>
                </c:pt>
                <c:pt idx="11">
                  <c:v>102.93621448442407</c:v>
                </c:pt>
                <c:pt idx="12">
                  <c:v>103.39148358088048</c:v>
                </c:pt>
                <c:pt idx="13">
                  <c:v>108.31234146543153</c:v>
                </c:pt>
                <c:pt idx="14">
                  <c:v>103.13169639309908</c:v>
                </c:pt>
                <c:pt idx="15">
                  <c:v>107.61370883010134</c:v>
                </c:pt>
                <c:pt idx="16">
                  <c:v>90.887380667392009</c:v>
                </c:pt>
                <c:pt idx="17">
                  <c:v>86.593157559542391</c:v>
                </c:pt>
                <c:pt idx="18">
                  <c:v>85.537973592995272</c:v>
                </c:pt>
                <c:pt idx="19">
                  <c:v>96.44697408397947</c:v>
                </c:pt>
                <c:pt idx="20">
                  <c:v>88.817023993335013</c:v>
                </c:pt>
                <c:pt idx="21">
                  <c:v>87.519976818103984</c:v>
                </c:pt>
                <c:pt idx="22">
                  <c:v>87.15540531420983</c:v>
                </c:pt>
                <c:pt idx="23">
                  <c:v>91.665651925013464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D6A-4581-AB48-50312702A9E0}"/>
            </c:ext>
          </c:extLst>
        </c:ser>
        <c:ser>
          <c:idx val="2"/>
          <c:order val="2"/>
          <c:tx>
            <c:strRef>
              <c:f>'Аномалия 1 сентября'!$D$3:$D$4</c:f>
              <c:strCache>
                <c:ptCount val="1"/>
                <c:pt idx="0">
                  <c:v>Ракетный б-р, 14к1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'Аномалия 1 сентября'!$A$5:$A$28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'Аномалия 1 сентября'!$D$5:$D$28</c:f>
              <c:numCache>
                <c:formatCode>0.00</c:formatCode>
                <c:ptCount val="24"/>
                <c:pt idx="0">
                  <c:v>71.372062300501696</c:v>
                </c:pt>
                <c:pt idx="1">
                  <c:v>73.821680289164476</c:v>
                </c:pt>
                <c:pt idx="2">
                  <c:v>66.434231917964112</c:v>
                </c:pt>
                <c:pt idx="3">
                  <c:v>65.314000282851012</c:v>
                </c:pt>
                <c:pt idx="4">
                  <c:v>68.466743997059169</c:v>
                </c:pt>
                <c:pt idx="5">
                  <c:v>67.646905970193345</c:v>
                </c:pt>
                <c:pt idx="6">
                  <c:v>71.478785302176433</c:v>
                </c:pt>
                <c:pt idx="7">
                  <c:v>64.731965942719825</c:v>
                </c:pt>
                <c:pt idx="8">
                  <c:v>68.052659238530126</c:v>
                </c:pt>
                <c:pt idx="9">
                  <c:v>64.546471265202854</c:v>
                </c:pt>
                <c:pt idx="10">
                  <c:v>66.846803037435222</c:v>
                </c:pt>
                <c:pt idx="11">
                  <c:v>69.269296793581177</c:v>
                </c:pt>
                <c:pt idx="12">
                  <c:v>65.430852581301465</c:v>
                </c:pt>
                <c:pt idx="13">
                  <c:v>66.964853520408212</c:v>
                </c:pt>
                <c:pt idx="14">
                  <c:v>72.620356360810902</c:v>
                </c:pt>
                <c:pt idx="15">
                  <c:v>69.149326533079147</c:v>
                </c:pt>
                <c:pt idx="16">
                  <c:v>69.422087729792594</c:v>
                </c:pt>
                <c:pt idx="17">
                  <c:v>66.308758659636609</c:v>
                </c:pt>
                <c:pt idx="18">
                  <c:v>68.607704882096087</c:v>
                </c:pt>
                <c:pt idx="19">
                  <c:v>74.576417151724968</c:v>
                </c:pt>
                <c:pt idx="20">
                  <c:v>78.091920547463872</c:v>
                </c:pt>
                <c:pt idx="21">
                  <c:v>80.306894013781587</c:v>
                </c:pt>
                <c:pt idx="22">
                  <c:v>80.708906385763527</c:v>
                </c:pt>
                <c:pt idx="23">
                  <c:v>78.42989293325661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D6A-4581-AB48-50312702A9E0}"/>
            </c:ext>
          </c:extLst>
        </c:ser>
        <c:ser>
          <c:idx val="3"/>
          <c:order val="3"/>
          <c:tx>
            <c:strRef>
              <c:f>'Аномалия 1 сентября'!$E$3:$E$4</c:f>
              <c:strCache>
                <c:ptCount val="1"/>
                <c:pt idx="0">
                  <c:v>Симферопольский б-р, 22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'Аномалия 1 сентября'!$A$5:$A$28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'Аномалия 1 сентября'!$E$5:$E$28</c:f>
              <c:numCache>
                <c:formatCode>0.00</c:formatCode>
                <c:ptCount val="24"/>
                <c:pt idx="0">
                  <c:v>160.4883525640042</c:v>
                </c:pt>
                <c:pt idx="1">
                  <c:v>152.81225905822464</c:v>
                </c:pt>
                <c:pt idx="2">
                  <c:v>154.95635539111566</c:v>
                </c:pt>
                <c:pt idx="3">
                  <c:v>153.86593045899644</c:v>
                </c:pt>
                <c:pt idx="4">
                  <c:v>167.38194120017454</c:v>
                </c:pt>
                <c:pt idx="5">
                  <c:v>151.36879551038146</c:v>
                </c:pt>
                <c:pt idx="6">
                  <c:v>162.351350208713</c:v>
                </c:pt>
                <c:pt idx="7">
                  <c:v>154.0093835180385</c:v>
                </c:pt>
                <c:pt idx="8">
                  <c:v>176.529144186244</c:v>
                </c:pt>
                <c:pt idx="9">
                  <c:v>157.67469749985528</c:v>
                </c:pt>
                <c:pt idx="10">
                  <c:v>164.50549097366863</c:v>
                </c:pt>
                <c:pt idx="11">
                  <c:v>169.78009736086142</c:v>
                </c:pt>
                <c:pt idx="12">
                  <c:v>160.03797502969118</c:v>
                </c:pt>
                <c:pt idx="13">
                  <c:v>176.91741569296403</c:v>
                </c:pt>
                <c:pt idx="14">
                  <c:v>161.0104036401026</c:v>
                </c:pt>
                <c:pt idx="15">
                  <c:v>173.81698993062054</c:v>
                </c:pt>
                <c:pt idx="16">
                  <c:v>155.73962525675822</c:v>
                </c:pt>
                <c:pt idx="17">
                  <c:v>165.90707786447769</c:v>
                </c:pt>
                <c:pt idx="18">
                  <c:v>153.08363139629364</c:v>
                </c:pt>
                <c:pt idx="19">
                  <c:v>143.70683288219774</c:v>
                </c:pt>
                <c:pt idx="20">
                  <c:v>150.42451185843916</c:v>
                </c:pt>
                <c:pt idx="21">
                  <c:v>169.79688389995135</c:v>
                </c:pt>
                <c:pt idx="22">
                  <c:v>176.64373790561828</c:v>
                </c:pt>
                <c:pt idx="23">
                  <c:v>165.77147212605377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D6A-4581-AB48-50312702A9E0}"/>
            </c:ext>
          </c:extLst>
        </c:ser>
        <c:ser>
          <c:idx val="4"/>
          <c:order val="4"/>
          <c:tx>
            <c:strRef>
              <c:f>'Аномалия 1 сентября'!$F$3:$F$4</c:f>
              <c:strCache>
                <c:ptCount val="1"/>
                <c:pt idx="0">
                  <c:v>ул. Чертановская,  20к2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strRef>
              <c:f>'Аномалия 1 сентября'!$A$5:$A$28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'Аномалия 1 сентября'!$F$5:$F$28</c:f>
              <c:numCache>
                <c:formatCode>0.00</c:formatCode>
                <c:ptCount val="24"/>
                <c:pt idx="0">
                  <c:v>116.89607384813023</c:v>
                </c:pt>
                <c:pt idx="1">
                  <c:v>119.44803557779871</c:v>
                </c:pt>
                <c:pt idx="2">
                  <c:v>122.69614960341791</c:v>
                </c:pt>
                <c:pt idx="3">
                  <c:v>127.32740442988008</c:v>
                </c:pt>
                <c:pt idx="4">
                  <c:v>120.9402898289097</c:v>
                </c:pt>
                <c:pt idx="5">
                  <c:v>125.54283979520143</c:v>
                </c:pt>
                <c:pt idx="6">
                  <c:v>124.06250741295013</c:v>
                </c:pt>
                <c:pt idx="7">
                  <c:v>123.66333799747898</c:v>
                </c:pt>
                <c:pt idx="8">
                  <c:v>120.98539109580148</c:v>
                </c:pt>
                <c:pt idx="9">
                  <c:v>124.1868988969255</c:v>
                </c:pt>
                <c:pt idx="10">
                  <c:v>122.32366528825459</c:v>
                </c:pt>
                <c:pt idx="11">
                  <c:v>118.96689816341295</c:v>
                </c:pt>
                <c:pt idx="12">
                  <c:v>129.04057398741469</c:v>
                </c:pt>
                <c:pt idx="13">
                  <c:v>122.15606924624834</c:v>
                </c:pt>
                <c:pt idx="14">
                  <c:v>118.24085182333366</c:v>
                </c:pt>
                <c:pt idx="15">
                  <c:v>119.05313106265622</c:v>
                </c:pt>
                <c:pt idx="16">
                  <c:v>120.53660146044854</c:v>
                </c:pt>
                <c:pt idx="17">
                  <c:v>128.01936507764779</c:v>
                </c:pt>
                <c:pt idx="18">
                  <c:v>126.15587674283788</c:v>
                </c:pt>
                <c:pt idx="19">
                  <c:v>119.83275500591844</c:v>
                </c:pt>
                <c:pt idx="20">
                  <c:v>117.62314073098621</c:v>
                </c:pt>
                <c:pt idx="21">
                  <c:v>127.01549029014514</c:v>
                </c:pt>
                <c:pt idx="22">
                  <c:v>125.03225423279218</c:v>
                </c:pt>
                <c:pt idx="23">
                  <c:v>122.07185434289015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ED6A-4581-AB48-50312702A9E0}"/>
            </c:ext>
          </c:extLst>
        </c:ser>
        <c:ser>
          <c:idx val="5"/>
          <c:order val="5"/>
          <c:tx>
            <c:strRef>
              <c:f>'Аномалия 1 сентября'!$G$3:$G$4</c:f>
              <c:strCache>
                <c:ptCount val="1"/>
                <c:pt idx="0">
                  <c:v>ул. Щорса, 26/3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strRef>
              <c:f>'Аномалия 1 сентября'!$A$5:$A$28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'Аномалия 1 сентября'!$G$5:$G$28</c:f>
              <c:numCache>
                <c:formatCode>0.00</c:formatCode>
                <c:ptCount val="24"/>
                <c:pt idx="0">
                  <c:v>99.863450591544463</c:v>
                </c:pt>
                <c:pt idx="1">
                  <c:v>90.87951229200425</c:v>
                </c:pt>
                <c:pt idx="2">
                  <c:v>101.12790860468522</c:v>
                </c:pt>
                <c:pt idx="3">
                  <c:v>124.5661469707084</c:v>
                </c:pt>
                <c:pt idx="4">
                  <c:v>108.01414511462843</c:v>
                </c:pt>
                <c:pt idx="5">
                  <c:v>149.93433792500153</c:v>
                </c:pt>
                <c:pt idx="6">
                  <c:v>122.08417042715723</c:v>
                </c:pt>
                <c:pt idx="7">
                  <c:v>90.909217503497899</c:v>
                </c:pt>
                <c:pt idx="8">
                  <c:v>99.368569221556314</c:v>
                </c:pt>
                <c:pt idx="9">
                  <c:v>104.0929458532182</c:v>
                </c:pt>
                <c:pt idx="10">
                  <c:v>94.683126071031438</c:v>
                </c:pt>
                <c:pt idx="11">
                  <c:v>89.88838308035443</c:v>
                </c:pt>
                <c:pt idx="12">
                  <c:v>99.971729970210433</c:v>
                </c:pt>
                <c:pt idx="13">
                  <c:v>104.15484588593245</c:v>
                </c:pt>
                <c:pt idx="14">
                  <c:v>98.071244090607166</c:v>
                </c:pt>
                <c:pt idx="15">
                  <c:v>96.32502699109935</c:v>
                </c:pt>
                <c:pt idx="16">
                  <c:v>104.55531102012505</c:v>
                </c:pt>
                <c:pt idx="17">
                  <c:v>103.74857204379668</c:v>
                </c:pt>
                <c:pt idx="18">
                  <c:v>107.67067516987611</c:v>
                </c:pt>
                <c:pt idx="19">
                  <c:v>94.121127664479175</c:v>
                </c:pt>
                <c:pt idx="20">
                  <c:v>99.799675113028187</c:v>
                </c:pt>
                <c:pt idx="21">
                  <c:v>103.02100779239716</c:v>
                </c:pt>
                <c:pt idx="22">
                  <c:v>98.74337484721211</c:v>
                </c:pt>
                <c:pt idx="23">
                  <c:v>100.38449254077912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ED6A-4581-AB48-50312702A9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94836960"/>
        <c:axId val="1093415968"/>
      </c:lineChart>
      <c:catAx>
        <c:axId val="10948369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93415968"/>
        <c:crosses val="autoZero"/>
        <c:auto val="1"/>
        <c:lblAlgn val="ctr"/>
        <c:lblOffset val="100"/>
        <c:noMultiLvlLbl val="0"/>
      </c:catAx>
      <c:valAx>
        <c:axId val="10934159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948369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[Transaction_list_Васильев_А.В.xlsx]Аномалия 1 сентября!Сводная таблица1</c:name>
    <c:fmtId val="2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400" b="0" i="0" u="none" strike="noStrike" baseline="0">
                <a:effectLst/>
              </a:rPr>
              <a:t>Количество транзакций по адресам ТТ</a:t>
            </a:r>
            <a:endParaRPr lang="ru-RU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'Аномалия 1 сентября'!$B$37:$B$38</c:f>
              <c:strCache>
                <c:ptCount val="1"/>
                <c:pt idx="0">
                  <c:v>Ленинский пр-т, 162/1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'Аномалия 1 сентября'!$A$39:$A$62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'Аномалия 1 сентября'!$B$39:$B$62</c:f>
              <c:numCache>
                <c:formatCode>General</c:formatCode>
                <c:ptCount val="24"/>
                <c:pt idx="0">
                  <c:v>402</c:v>
                </c:pt>
                <c:pt idx="1">
                  <c:v>397</c:v>
                </c:pt>
                <c:pt idx="2">
                  <c:v>406</c:v>
                </c:pt>
                <c:pt idx="3">
                  <c:v>413</c:v>
                </c:pt>
                <c:pt idx="4">
                  <c:v>408</c:v>
                </c:pt>
                <c:pt idx="5">
                  <c:v>385</c:v>
                </c:pt>
                <c:pt idx="6">
                  <c:v>467</c:v>
                </c:pt>
                <c:pt idx="7">
                  <c:v>452</c:v>
                </c:pt>
                <c:pt idx="8">
                  <c:v>478</c:v>
                </c:pt>
                <c:pt idx="9">
                  <c:v>453</c:v>
                </c:pt>
                <c:pt idx="10">
                  <c:v>484</c:v>
                </c:pt>
                <c:pt idx="11">
                  <c:v>459</c:v>
                </c:pt>
                <c:pt idx="12">
                  <c:v>454</c:v>
                </c:pt>
                <c:pt idx="13">
                  <c:v>506</c:v>
                </c:pt>
                <c:pt idx="14">
                  <c:v>518</c:v>
                </c:pt>
                <c:pt idx="15">
                  <c:v>525</c:v>
                </c:pt>
                <c:pt idx="16">
                  <c:v>457</c:v>
                </c:pt>
                <c:pt idx="17">
                  <c:v>457</c:v>
                </c:pt>
                <c:pt idx="18">
                  <c:v>454</c:v>
                </c:pt>
                <c:pt idx="19">
                  <c:v>450</c:v>
                </c:pt>
                <c:pt idx="20">
                  <c:v>442</c:v>
                </c:pt>
                <c:pt idx="21">
                  <c:v>458</c:v>
                </c:pt>
                <c:pt idx="22">
                  <c:v>486</c:v>
                </c:pt>
                <c:pt idx="23">
                  <c:v>432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79A-4F05-9697-E16281FC1821}"/>
            </c:ext>
          </c:extLst>
        </c:ser>
        <c:ser>
          <c:idx val="1"/>
          <c:order val="1"/>
          <c:tx>
            <c:strRef>
              <c:f>'Аномалия 1 сентября'!$C$37:$C$38</c:f>
              <c:strCache>
                <c:ptCount val="1"/>
                <c:pt idx="0">
                  <c:v>пр-т Вернадского, 88к3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'Аномалия 1 сентября'!$A$39:$A$62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'Аномалия 1 сентября'!$C$39:$C$62</c:f>
              <c:numCache>
                <c:formatCode>General</c:formatCode>
                <c:ptCount val="24"/>
                <c:pt idx="0">
                  <c:v>259</c:v>
                </c:pt>
                <c:pt idx="1">
                  <c:v>265</c:v>
                </c:pt>
                <c:pt idx="2">
                  <c:v>253</c:v>
                </c:pt>
                <c:pt idx="3">
                  <c:v>230</c:v>
                </c:pt>
                <c:pt idx="4">
                  <c:v>228</c:v>
                </c:pt>
                <c:pt idx="5">
                  <c:v>242</c:v>
                </c:pt>
                <c:pt idx="6">
                  <c:v>271</c:v>
                </c:pt>
                <c:pt idx="7">
                  <c:v>307</c:v>
                </c:pt>
                <c:pt idx="8">
                  <c:v>297</c:v>
                </c:pt>
                <c:pt idx="9">
                  <c:v>281</c:v>
                </c:pt>
                <c:pt idx="10">
                  <c:v>248</c:v>
                </c:pt>
                <c:pt idx="11">
                  <c:v>280</c:v>
                </c:pt>
                <c:pt idx="12">
                  <c:v>304</c:v>
                </c:pt>
                <c:pt idx="13">
                  <c:v>305</c:v>
                </c:pt>
                <c:pt idx="14">
                  <c:v>282</c:v>
                </c:pt>
                <c:pt idx="15">
                  <c:v>290</c:v>
                </c:pt>
                <c:pt idx="16">
                  <c:v>263</c:v>
                </c:pt>
                <c:pt idx="17">
                  <c:v>246</c:v>
                </c:pt>
                <c:pt idx="18">
                  <c:v>304</c:v>
                </c:pt>
                <c:pt idx="19">
                  <c:v>296</c:v>
                </c:pt>
                <c:pt idx="20">
                  <c:v>311</c:v>
                </c:pt>
                <c:pt idx="21">
                  <c:v>276</c:v>
                </c:pt>
                <c:pt idx="22">
                  <c:v>308</c:v>
                </c:pt>
                <c:pt idx="23">
                  <c:v>283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79A-4F05-9697-E16281FC1821}"/>
            </c:ext>
          </c:extLst>
        </c:ser>
        <c:ser>
          <c:idx val="2"/>
          <c:order val="2"/>
          <c:tx>
            <c:strRef>
              <c:f>'Аномалия 1 сентября'!$D$37:$D$38</c:f>
              <c:strCache>
                <c:ptCount val="1"/>
                <c:pt idx="0">
                  <c:v>Ракетный б-р, 14к1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'Аномалия 1 сентября'!$A$39:$A$62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'Аномалия 1 сентября'!$D$39:$D$62</c:f>
              <c:numCache>
                <c:formatCode>General</c:formatCode>
                <c:ptCount val="24"/>
                <c:pt idx="0">
                  <c:v>181</c:v>
                </c:pt>
                <c:pt idx="1">
                  <c:v>229</c:v>
                </c:pt>
                <c:pt idx="2">
                  <c:v>213</c:v>
                </c:pt>
                <c:pt idx="3">
                  <c:v>218</c:v>
                </c:pt>
                <c:pt idx="4">
                  <c:v>226</c:v>
                </c:pt>
                <c:pt idx="5">
                  <c:v>222</c:v>
                </c:pt>
                <c:pt idx="6">
                  <c:v>199</c:v>
                </c:pt>
                <c:pt idx="7">
                  <c:v>215</c:v>
                </c:pt>
                <c:pt idx="8">
                  <c:v>235</c:v>
                </c:pt>
                <c:pt idx="9">
                  <c:v>224</c:v>
                </c:pt>
                <c:pt idx="10">
                  <c:v>257</c:v>
                </c:pt>
                <c:pt idx="11">
                  <c:v>258</c:v>
                </c:pt>
                <c:pt idx="12">
                  <c:v>230</c:v>
                </c:pt>
                <c:pt idx="13">
                  <c:v>221</c:v>
                </c:pt>
                <c:pt idx="14">
                  <c:v>279</c:v>
                </c:pt>
                <c:pt idx="15">
                  <c:v>240</c:v>
                </c:pt>
                <c:pt idx="16">
                  <c:v>241</c:v>
                </c:pt>
                <c:pt idx="17">
                  <c:v>254</c:v>
                </c:pt>
                <c:pt idx="18">
                  <c:v>243</c:v>
                </c:pt>
                <c:pt idx="19">
                  <c:v>246</c:v>
                </c:pt>
                <c:pt idx="20">
                  <c:v>229</c:v>
                </c:pt>
                <c:pt idx="21">
                  <c:v>249</c:v>
                </c:pt>
                <c:pt idx="22">
                  <c:v>259</c:v>
                </c:pt>
                <c:pt idx="23">
                  <c:v>236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79A-4F05-9697-E16281FC1821}"/>
            </c:ext>
          </c:extLst>
        </c:ser>
        <c:ser>
          <c:idx val="3"/>
          <c:order val="3"/>
          <c:tx>
            <c:strRef>
              <c:f>'Аномалия 1 сентября'!$E$37:$E$38</c:f>
              <c:strCache>
                <c:ptCount val="1"/>
                <c:pt idx="0">
                  <c:v>Симферопольский б-р, 22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'Аномалия 1 сентября'!$A$39:$A$62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'Аномалия 1 сентября'!$E$39:$E$62</c:f>
              <c:numCache>
                <c:formatCode>General</c:formatCode>
                <c:ptCount val="24"/>
                <c:pt idx="0">
                  <c:v>76</c:v>
                </c:pt>
                <c:pt idx="1">
                  <c:v>88</c:v>
                </c:pt>
                <c:pt idx="2">
                  <c:v>82</c:v>
                </c:pt>
                <c:pt idx="3">
                  <c:v>90</c:v>
                </c:pt>
                <c:pt idx="4">
                  <c:v>94</c:v>
                </c:pt>
                <c:pt idx="5">
                  <c:v>75</c:v>
                </c:pt>
                <c:pt idx="6">
                  <c:v>89</c:v>
                </c:pt>
                <c:pt idx="7">
                  <c:v>93</c:v>
                </c:pt>
                <c:pt idx="8">
                  <c:v>89</c:v>
                </c:pt>
                <c:pt idx="9">
                  <c:v>105</c:v>
                </c:pt>
                <c:pt idx="10">
                  <c:v>97</c:v>
                </c:pt>
                <c:pt idx="11">
                  <c:v>94</c:v>
                </c:pt>
                <c:pt idx="12">
                  <c:v>85</c:v>
                </c:pt>
                <c:pt idx="13">
                  <c:v>102</c:v>
                </c:pt>
                <c:pt idx="14">
                  <c:v>96</c:v>
                </c:pt>
                <c:pt idx="15">
                  <c:v>102</c:v>
                </c:pt>
                <c:pt idx="16">
                  <c:v>97</c:v>
                </c:pt>
                <c:pt idx="17">
                  <c:v>105</c:v>
                </c:pt>
                <c:pt idx="18">
                  <c:v>108</c:v>
                </c:pt>
                <c:pt idx="19">
                  <c:v>103</c:v>
                </c:pt>
                <c:pt idx="20">
                  <c:v>121</c:v>
                </c:pt>
                <c:pt idx="21">
                  <c:v>100</c:v>
                </c:pt>
                <c:pt idx="22">
                  <c:v>92</c:v>
                </c:pt>
                <c:pt idx="23">
                  <c:v>102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79A-4F05-9697-E16281FC1821}"/>
            </c:ext>
          </c:extLst>
        </c:ser>
        <c:ser>
          <c:idx val="4"/>
          <c:order val="4"/>
          <c:tx>
            <c:strRef>
              <c:f>'Аномалия 1 сентября'!$F$37:$F$38</c:f>
              <c:strCache>
                <c:ptCount val="1"/>
                <c:pt idx="0">
                  <c:v>ул. Чертановская,  20к2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strRef>
              <c:f>'Аномалия 1 сентября'!$A$39:$A$62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'Аномалия 1 сентября'!$F$39:$F$62</c:f>
              <c:numCache>
                <c:formatCode>General</c:formatCode>
                <c:ptCount val="24"/>
                <c:pt idx="0">
                  <c:v>223</c:v>
                </c:pt>
                <c:pt idx="1">
                  <c:v>178</c:v>
                </c:pt>
                <c:pt idx="2">
                  <c:v>183</c:v>
                </c:pt>
                <c:pt idx="3">
                  <c:v>211</c:v>
                </c:pt>
                <c:pt idx="4">
                  <c:v>168</c:v>
                </c:pt>
                <c:pt idx="5">
                  <c:v>193</c:v>
                </c:pt>
                <c:pt idx="6">
                  <c:v>185</c:v>
                </c:pt>
                <c:pt idx="7">
                  <c:v>202</c:v>
                </c:pt>
                <c:pt idx="8">
                  <c:v>211</c:v>
                </c:pt>
                <c:pt idx="9">
                  <c:v>215</c:v>
                </c:pt>
                <c:pt idx="10">
                  <c:v>208</c:v>
                </c:pt>
                <c:pt idx="11">
                  <c:v>228</c:v>
                </c:pt>
                <c:pt idx="12">
                  <c:v>209</c:v>
                </c:pt>
                <c:pt idx="13">
                  <c:v>219</c:v>
                </c:pt>
                <c:pt idx="14">
                  <c:v>250</c:v>
                </c:pt>
                <c:pt idx="15">
                  <c:v>196</c:v>
                </c:pt>
                <c:pt idx="16">
                  <c:v>227</c:v>
                </c:pt>
                <c:pt idx="17">
                  <c:v>220</c:v>
                </c:pt>
                <c:pt idx="18">
                  <c:v>207</c:v>
                </c:pt>
                <c:pt idx="19">
                  <c:v>225</c:v>
                </c:pt>
                <c:pt idx="20">
                  <c:v>184</c:v>
                </c:pt>
                <c:pt idx="21">
                  <c:v>228</c:v>
                </c:pt>
                <c:pt idx="22">
                  <c:v>212</c:v>
                </c:pt>
                <c:pt idx="23">
                  <c:v>213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C79A-4F05-9697-E16281FC1821}"/>
            </c:ext>
          </c:extLst>
        </c:ser>
        <c:ser>
          <c:idx val="5"/>
          <c:order val="5"/>
          <c:tx>
            <c:strRef>
              <c:f>'Аномалия 1 сентября'!$G$37:$G$38</c:f>
              <c:strCache>
                <c:ptCount val="1"/>
                <c:pt idx="0">
                  <c:v>ул. Щорса, 26/3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strRef>
              <c:f>'Аномалия 1 сентября'!$A$39:$A$62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'Аномалия 1 сентября'!$G$39:$G$62</c:f>
              <c:numCache>
                <c:formatCode>General</c:formatCode>
                <c:ptCount val="24"/>
                <c:pt idx="0">
                  <c:v>172</c:v>
                </c:pt>
                <c:pt idx="1">
                  <c:v>153</c:v>
                </c:pt>
                <c:pt idx="2">
                  <c:v>180</c:v>
                </c:pt>
                <c:pt idx="3">
                  <c:v>154</c:v>
                </c:pt>
                <c:pt idx="4">
                  <c:v>165</c:v>
                </c:pt>
                <c:pt idx="5">
                  <c:v>153</c:v>
                </c:pt>
                <c:pt idx="6">
                  <c:v>173</c:v>
                </c:pt>
                <c:pt idx="7">
                  <c:v>194</c:v>
                </c:pt>
                <c:pt idx="8">
                  <c:v>174</c:v>
                </c:pt>
                <c:pt idx="9">
                  <c:v>186</c:v>
                </c:pt>
                <c:pt idx="10">
                  <c:v>160</c:v>
                </c:pt>
                <c:pt idx="11">
                  <c:v>181</c:v>
                </c:pt>
                <c:pt idx="12">
                  <c:v>191</c:v>
                </c:pt>
                <c:pt idx="13">
                  <c:v>189</c:v>
                </c:pt>
                <c:pt idx="14">
                  <c:v>178</c:v>
                </c:pt>
                <c:pt idx="15">
                  <c:v>191</c:v>
                </c:pt>
                <c:pt idx="16">
                  <c:v>198</c:v>
                </c:pt>
                <c:pt idx="17">
                  <c:v>181</c:v>
                </c:pt>
                <c:pt idx="18">
                  <c:v>168</c:v>
                </c:pt>
                <c:pt idx="19">
                  <c:v>190</c:v>
                </c:pt>
                <c:pt idx="20">
                  <c:v>202</c:v>
                </c:pt>
                <c:pt idx="21">
                  <c:v>202</c:v>
                </c:pt>
                <c:pt idx="22">
                  <c:v>191</c:v>
                </c:pt>
                <c:pt idx="23">
                  <c:v>178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C79A-4F05-9697-E16281FC18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27115583"/>
        <c:axId val="227122303"/>
      </c:lineChart>
      <c:catAx>
        <c:axId val="2271155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27122303"/>
        <c:crosses val="autoZero"/>
        <c:auto val="1"/>
        <c:lblAlgn val="ctr"/>
        <c:lblOffset val="100"/>
        <c:noMultiLvlLbl val="0"/>
      </c:catAx>
      <c:valAx>
        <c:axId val="2271223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271155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[Transaction_list_Васильев_А.В.xlsx]Аномалия 1 сентября!Сводная таблица2</c:name>
    <c:fmtId val="2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400" b="0" i="0" u="none" strike="noStrike" baseline="0" dirty="0">
                <a:effectLst/>
              </a:rPr>
              <a:t>Средняя длительность транзакций по серверам</a:t>
            </a:r>
            <a:endParaRPr lang="ru-RU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'Аномалия 1 сентября'!$B$70:$B$71</c:f>
              <c:strCache>
                <c:ptCount val="1"/>
                <c:pt idx="0">
                  <c:v>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'Аномалия 1 сентября'!$A$72:$A$95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'Аномалия 1 сентября'!$B$72:$B$95</c:f>
              <c:numCache>
                <c:formatCode>0.00</c:formatCode>
                <c:ptCount val="24"/>
                <c:pt idx="0">
                  <c:v>118.4420495831047</c:v>
                </c:pt>
                <c:pt idx="1">
                  <c:v>113.49395924398513</c:v>
                </c:pt>
                <c:pt idx="2">
                  <c:v>117.97497973631613</c:v>
                </c:pt>
                <c:pt idx="3">
                  <c:v>135.37344415901137</c:v>
                </c:pt>
                <c:pt idx="4">
                  <c:v>129.56075836575329</c:v>
                </c:pt>
                <c:pt idx="5">
                  <c:v>150.40619897282389</c:v>
                </c:pt>
                <c:pt idx="6">
                  <c:v>135.7627162308155</c:v>
                </c:pt>
                <c:pt idx="7">
                  <c:v>111.35630962667656</c:v>
                </c:pt>
                <c:pt idx="8">
                  <c:v>125.4799424985799</c:v>
                </c:pt>
                <c:pt idx="9">
                  <c:v>123.42656758138622</c:v>
                </c:pt>
                <c:pt idx="10">
                  <c:v>121.0363143805871</c:v>
                </c:pt>
                <c:pt idx="11">
                  <c:v>117.196823598055</c:v>
                </c:pt>
                <c:pt idx="12">
                  <c:v>118.47039239794907</c:v>
                </c:pt>
                <c:pt idx="13">
                  <c:v>129.65925179767547</c:v>
                </c:pt>
                <c:pt idx="14">
                  <c:v>120.1229204291165</c:v>
                </c:pt>
                <c:pt idx="15">
                  <c:v>123.3017512908644</c:v>
                </c:pt>
                <c:pt idx="16">
                  <c:v>121.38540756572985</c:v>
                </c:pt>
                <c:pt idx="17">
                  <c:v>126.56900250243831</c:v>
                </c:pt>
                <c:pt idx="18">
                  <c:v>125.44096238890906</c:v>
                </c:pt>
                <c:pt idx="19">
                  <c:v>111.55228001063963</c:v>
                </c:pt>
                <c:pt idx="20">
                  <c:v>118.76439723747006</c:v>
                </c:pt>
                <c:pt idx="21">
                  <c:v>125.13222504655417</c:v>
                </c:pt>
                <c:pt idx="22">
                  <c:v>124.06787449870811</c:v>
                </c:pt>
                <c:pt idx="23">
                  <c:v>124.2040351039863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703-4468-88D9-D0FEB0A140F2}"/>
            </c:ext>
          </c:extLst>
        </c:ser>
        <c:ser>
          <c:idx val="1"/>
          <c:order val="1"/>
          <c:tx>
            <c:strRef>
              <c:f>'Аномалия 1 сентября'!$C$70:$C$71</c:f>
              <c:strCache>
                <c:ptCount val="1"/>
                <c:pt idx="0">
                  <c:v>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'Аномалия 1 сентября'!$A$72:$A$95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'Аномалия 1 сентября'!$C$72:$C$95</c:f>
              <c:numCache>
                <c:formatCode>0.00</c:formatCode>
                <c:ptCount val="24"/>
                <c:pt idx="0">
                  <c:v>79.910947669525711</c:v>
                </c:pt>
                <c:pt idx="1">
                  <c:v>80.63842551687766</c:v>
                </c:pt>
                <c:pt idx="2">
                  <c:v>79.093473396166502</c:v>
                </c:pt>
                <c:pt idx="3">
                  <c:v>80.01550158401038</c:v>
                </c:pt>
                <c:pt idx="4">
                  <c:v>80.823481005049786</c:v>
                </c:pt>
                <c:pt idx="5">
                  <c:v>76.482168514210215</c:v>
                </c:pt>
                <c:pt idx="6">
                  <c:v>77.491910555456741</c:v>
                </c:pt>
                <c:pt idx="7">
                  <c:v>76.459434362894044</c:v>
                </c:pt>
                <c:pt idx="8">
                  <c:v>78.198400406857886</c:v>
                </c:pt>
                <c:pt idx="9">
                  <c:v>77.451604980104975</c:v>
                </c:pt>
                <c:pt idx="10">
                  <c:v>77.262113383994063</c:v>
                </c:pt>
                <c:pt idx="11">
                  <c:v>98.171027385722965</c:v>
                </c:pt>
                <c:pt idx="12">
                  <c:v>101.41461545117396</c:v>
                </c:pt>
                <c:pt idx="13">
                  <c:v>102.99670858390206</c:v>
                </c:pt>
                <c:pt idx="14">
                  <c:v>101.95506233442575</c:v>
                </c:pt>
                <c:pt idx="15">
                  <c:v>103.93305544312929</c:v>
                </c:pt>
                <c:pt idx="16">
                  <c:v>76.337586032459512</c:v>
                </c:pt>
                <c:pt idx="17">
                  <c:v>74.813985988195682</c:v>
                </c:pt>
                <c:pt idx="18">
                  <c:v>77.569320765975121</c:v>
                </c:pt>
                <c:pt idx="19">
                  <c:v>83.086488959716561</c:v>
                </c:pt>
                <c:pt idx="20">
                  <c:v>78.655182505100669</c:v>
                </c:pt>
                <c:pt idx="21">
                  <c:v>77.19678943050512</c:v>
                </c:pt>
                <c:pt idx="22">
                  <c:v>77.578318452284265</c:v>
                </c:pt>
                <c:pt idx="23">
                  <c:v>79.675955108686026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703-4468-88D9-D0FEB0A140F2}"/>
            </c:ext>
          </c:extLst>
        </c:ser>
        <c:ser>
          <c:idx val="2"/>
          <c:order val="2"/>
          <c:tx>
            <c:strRef>
              <c:f>'Аномалия 1 сентября'!$D$70:$D$71</c:f>
              <c:strCache>
                <c:ptCount val="1"/>
                <c:pt idx="0">
                  <c:v>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'Аномалия 1 сентября'!$A$72:$A$95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'Аномалия 1 сентября'!$D$72:$D$95</c:f>
              <c:numCache>
                <c:formatCode>0.00</c:formatCode>
                <c:ptCount val="24"/>
                <c:pt idx="0">
                  <c:v>96.500415209217437</c:v>
                </c:pt>
                <c:pt idx="1">
                  <c:v>93.776204223751435</c:v>
                </c:pt>
                <c:pt idx="2">
                  <c:v>92.434057515029878</c:v>
                </c:pt>
                <c:pt idx="3">
                  <c:v>95.814765492695145</c:v>
                </c:pt>
                <c:pt idx="4">
                  <c:v>90.841250849218781</c:v>
                </c:pt>
                <c:pt idx="5">
                  <c:v>94.572002905679042</c:v>
                </c:pt>
                <c:pt idx="6">
                  <c:v>96.812088923252304</c:v>
                </c:pt>
                <c:pt idx="7">
                  <c:v>93.279057441667902</c:v>
                </c:pt>
                <c:pt idx="8">
                  <c:v>93.094826103741468</c:v>
                </c:pt>
                <c:pt idx="9">
                  <c:v>93.755336734041961</c:v>
                </c:pt>
                <c:pt idx="10">
                  <c:v>91.662259700167326</c:v>
                </c:pt>
                <c:pt idx="11">
                  <c:v>92.584220893008421</c:v>
                </c:pt>
                <c:pt idx="12">
                  <c:v>95.714296257560378</c:v>
                </c:pt>
                <c:pt idx="13">
                  <c:v>94.43502680213318</c:v>
                </c:pt>
                <c:pt idx="14">
                  <c:v>94.180136825141119</c:v>
                </c:pt>
                <c:pt idx="15">
                  <c:v>91.583146917934897</c:v>
                </c:pt>
                <c:pt idx="16">
                  <c:v>94.214811270089385</c:v>
                </c:pt>
                <c:pt idx="17">
                  <c:v>94.95081227137176</c:v>
                </c:pt>
                <c:pt idx="18">
                  <c:v>95.079863938037306</c:v>
                </c:pt>
                <c:pt idx="19">
                  <c:v>96.195686827295091</c:v>
                </c:pt>
                <c:pt idx="20">
                  <c:v>95.703892735764384</c:v>
                </c:pt>
                <c:pt idx="21">
                  <c:v>102.63301550437046</c:v>
                </c:pt>
                <c:pt idx="22">
                  <c:v>100.65911815555137</c:v>
                </c:pt>
                <c:pt idx="23">
                  <c:v>99.133095116445787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703-4468-88D9-D0FEB0A140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27140063"/>
        <c:axId val="227152543"/>
      </c:lineChart>
      <c:catAx>
        <c:axId val="2271400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27152543"/>
        <c:crosses val="autoZero"/>
        <c:auto val="1"/>
        <c:lblAlgn val="ctr"/>
        <c:lblOffset val="100"/>
        <c:noMultiLvlLbl val="0"/>
      </c:catAx>
      <c:valAx>
        <c:axId val="2271525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271400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[Transaction_list_Васильев_А.В.xlsx]Аномалия 1 сентября!Сводная таблица3</c:name>
    <c:fmtId val="3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400" b="0" i="0" u="none" strike="noStrike" baseline="0" dirty="0">
                <a:effectLst/>
              </a:rPr>
              <a:t>Средняя длительность транзакций по платежным системам</a:t>
            </a:r>
            <a:endParaRPr lang="ru-RU" dirty="0"/>
          </a:p>
        </c:rich>
      </c:tx>
      <c:overlay val="0"/>
      <c:spPr>
        <a:noFill/>
        <a:ln>
          <a:noFill/>
        </a:ln>
        <a:effectLst/>
      </c:sp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ln w="28575" cap="rnd">
            <a:solidFill>
              <a:schemeClr val="accent3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ln w="28575" cap="rnd">
            <a:solidFill>
              <a:schemeClr val="accent3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ln w="28575" cap="rnd">
            <a:solidFill>
              <a:schemeClr val="accent3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'Аномалия 1 сентября'!$B$99:$B$100</c:f>
              <c:strCache>
                <c:ptCount val="1"/>
                <c:pt idx="0">
                  <c:v>MasterCard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'Аномалия 1 сентября'!$A$101:$A$124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'Аномалия 1 сентября'!$B$101:$B$124</c:f>
              <c:numCache>
                <c:formatCode>0.00</c:formatCode>
                <c:ptCount val="24"/>
                <c:pt idx="0">
                  <c:v>93.601815406630223</c:v>
                </c:pt>
                <c:pt idx="1">
                  <c:v>89.190559220719422</c:v>
                </c:pt>
                <c:pt idx="2">
                  <c:v>94.312637531771685</c:v>
                </c:pt>
                <c:pt idx="3">
                  <c:v>94.700434205288857</c:v>
                </c:pt>
                <c:pt idx="4">
                  <c:v>93.354295376212079</c:v>
                </c:pt>
                <c:pt idx="5">
                  <c:v>95.679832891402569</c:v>
                </c:pt>
                <c:pt idx="6">
                  <c:v>98.90182317842492</c:v>
                </c:pt>
                <c:pt idx="7">
                  <c:v>85.9425320292506</c:v>
                </c:pt>
                <c:pt idx="8">
                  <c:v>92.792015728773549</c:v>
                </c:pt>
                <c:pt idx="9">
                  <c:v>91.331840712046684</c:v>
                </c:pt>
                <c:pt idx="10">
                  <c:v>87.156106399616888</c:v>
                </c:pt>
                <c:pt idx="11">
                  <c:v>100.10516396991029</c:v>
                </c:pt>
                <c:pt idx="12">
                  <c:v>106.59227146751294</c:v>
                </c:pt>
                <c:pt idx="13">
                  <c:v>105.88712688627245</c:v>
                </c:pt>
                <c:pt idx="14">
                  <c:v>106.27893128021998</c:v>
                </c:pt>
                <c:pt idx="15">
                  <c:v>104.60655352613057</c:v>
                </c:pt>
                <c:pt idx="16">
                  <c:v>87.670277389765928</c:v>
                </c:pt>
                <c:pt idx="17">
                  <c:v>92.095408229103597</c:v>
                </c:pt>
                <c:pt idx="18">
                  <c:v>96.211494308570991</c:v>
                </c:pt>
                <c:pt idx="19">
                  <c:v>97.759412282293354</c:v>
                </c:pt>
                <c:pt idx="20">
                  <c:v>96.424498207641733</c:v>
                </c:pt>
                <c:pt idx="21">
                  <c:v>98.313513191667965</c:v>
                </c:pt>
                <c:pt idx="22">
                  <c:v>96.566991754430703</c:v>
                </c:pt>
                <c:pt idx="23">
                  <c:v>106.31254277164351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64A-4F02-B510-FE46D1E9A610}"/>
            </c:ext>
          </c:extLst>
        </c:ser>
        <c:ser>
          <c:idx val="1"/>
          <c:order val="1"/>
          <c:tx>
            <c:strRef>
              <c:f>'Аномалия 1 сентября'!$C$99:$C$100</c:f>
              <c:strCache>
                <c:ptCount val="1"/>
                <c:pt idx="0">
                  <c:v>Visa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'Аномалия 1 сентября'!$A$101:$A$124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'Аномалия 1 сентября'!$C$101:$C$124</c:f>
              <c:numCache>
                <c:formatCode>0.00</c:formatCode>
                <c:ptCount val="24"/>
                <c:pt idx="0">
                  <c:v>92.377652222039785</c:v>
                </c:pt>
                <c:pt idx="1">
                  <c:v>92.995931927560818</c:v>
                </c:pt>
                <c:pt idx="2">
                  <c:v>90.16856489307996</c:v>
                </c:pt>
                <c:pt idx="3">
                  <c:v>96.315201149237424</c:v>
                </c:pt>
                <c:pt idx="4">
                  <c:v>93.198480986611926</c:v>
                </c:pt>
                <c:pt idx="5">
                  <c:v>97.071193831648841</c:v>
                </c:pt>
                <c:pt idx="6">
                  <c:v>94.305724808245699</c:v>
                </c:pt>
                <c:pt idx="7">
                  <c:v>89.17608944280208</c:v>
                </c:pt>
                <c:pt idx="8">
                  <c:v>90.883599830863304</c:v>
                </c:pt>
                <c:pt idx="9">
                  <c:v>92.357811003091882</c:v>
                </c:pt>
                <c:pt idx="10">
                  <c:v>90.067567187694991</c:v>
                </c:pt>
                <c:pt idx="11">
                  <c:v>98.618614154844735</c:v>
                </c:pt>
                <c:pt idx="12">
                  <c:v>100.33868050922742</c:v>
                </c:pt>
                <c:pt idx="13">
                  <c:v>105.43036512064967</c:v>
                </c:pt>
                <c:pt idx="14">
                  <c:v>102.00193803327063</c:v>
                </c:pt>
                <c:pt idx="15">
                  <c:v>105.33534235091021</c:v>
                </c:pt>
                <c:pt idx="16">
                  <c:v>89.303760458578296</c:v>
                </c:pt>
                <c:pt idx="17">
                  <c:v>90.466742582982135</c:v>
                </c:pt>
                <c:pt idx="18">
                  <c:v>91.700589170349119</c:v>
                </c:pt>
                <c:pt idx="19">
                  <c:v>90.438523049172204</c:v>
                </c:pt>
                <c:pt idx="20">
                  <c:v>89.49755315577562</c:v>
                </c:pt>
                <c:pt idx="21">
                  <c:v>93.050310157798748</c:v>
                </c:pt>
                <c:pt idx="22">
                  <c:v>91.071378669516292</c:v>
                </c:pt>
                <c:pt idx="23">
                  <c:v>89.026250080959358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64A-4F02-B510-FE46D1E9A610}"/>
            </c:ext>
          </c:extLst>
        </c:ser>
        <c:ser>
          <c:idx val="2"/>
          <c:order val="2"/>
          <c:tx>
            <c:strRef>
              <c:f>'Аномалия 1 сентября'!$D$99:$D$100</c:f>
              <c:strCache>
                <c:ptCount val="1"/>
                <c:pt idx="0">
                  <c:v>МИР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'Аномалия 1 сентября'!$A$101:$A$124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'Аномалия 1 сентября'!$D$101:$D$124</c:f>
              <c:numCache>
                <c:formatCode>0.00</c:formatCode>
                <c:ptCount val="24"/>
                <c:pt idx="0">
                  <c:v>90.115192245089801</c:v>
                </c:pt>
                <c:pt idx="1">
                  <c:v>88.493206287364899</c:v>
                </c:pt>
                <c:pt idx="2">
                  <c:v>87.496090957548219</c:v>
                </c:pt>
                <c:pt idx="3">
                  <c:v>94.291572014236664</c:v>
                </c:pt>
                <c:pt idx="4">
                  <c:v>95.123779385714798</c:v>
                </c:pt>
                <c:pt idx="5">
                  <c:v>92.668413469886332</c:v>
                </c:pt>
                <c:pt idx="6">
                  <c:v>85.559437133027856</c:v>
                </c:pt>
                <c:pt idx="7">
                  <c:v>88.994094777287401</c:v>
                </c:pt>
                <c:pt idx="8">
                  <c:v>88.713028862705968</c:v>
                </c:pt>
                <c:pt idx="9">
                  <c:v>89.715146312229578</c:v>
                </c:pt>
                <c:pt idx="10">
                  <c:v>92.536290267049537</c:v>
                </c:pt>
                <c:pt idx="11">
                  <c:v>102.46088021529555</c:v>
                </c:pt>
                <c:pt idx="12">
                  <c:v>103.25892980710218</c:v>
                </c:pt>
                <c:pt idx="13">
                  <c:v>105.48417206431954</c:v>
                </c:pt>
                <c:pt idx="14">
                  <c:v>98.042499271929373</c:v>
                </c:pt>
                <c:pt idx="15">
                  <c:v>100.87935031489144</c:v>
                </c:pt>
                <c:pt idx="16">
                  <c:v>100.32649927810986</c:v>
                </c:pt>
                <c:pt idx="17">
                  <c:v>92.640050394859699</c:v>
                </c:pt>
                <c:pt idx="18">
                  <c:v>85.62686543063775</c:v>
                </c:pt>
                <c:pt idx="19">
                  <c:v>90.103258189019684</c:v>
                </c:pt>
                <c:pt idx="20">
                  <c:v>91.469167421780597</c:v>
                </c:pt>
                <c:pt idx="21">
                  <c:v>93.075369903738846</c:v>
                </c:pt>
                <c:pt idx="22">
                  <c:v>92.000800005100189</c:v>
                </c:pt>
                <c:pt idx="23">
                  <c:v>89.50580482651452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64A-4F02-B510-FE46D1E9A6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27140063"/>
        <c:axId val="227152543"/>
      </c:lineChart>
      <c:catAx>
        <c:axId val="2271400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27152543"/>
        <c:crosses val="autoZero"/>
        <c:auto val="1"/>
        <c:lblAlgn val="ctr"/>
        <c:lblOffset val="100"/>
        <c:noMultiLvlLbl val="0"/>
      </c:catAx>
      <c:valAx>
        <c:axId val="2271525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27140063"/>
        <c:crosses val="autoZero"/>
        <c:crossBetween val="between"/>
      </c:valAx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/>
  </c:chart>
  <c:txPr>
    <a:bodyPr/>
    <a:lstStyle/>
    <a:p>
      <a:pPr>
        <a:defRPr/>
      </a:pPr>
      <a:endParaRPr lang="ru-RU"/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[Transaction_list2_Васильев.А.В.xlsx]Задача 1!Сводная таблица1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Сбой</a:t>
            </a:r>
            <a:r>
              <a:rPr lang="ru-RU" baseline="0"/>
              <a:t> работы 1 сервера 05.09</a:t>
            </a:r>
            <a:endParaRPr lang="ru-RU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3.9239983477901696E-2"/>
              <c:y val="-6.633499170812610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4.3370508054522923E-2"/>
              <c:y val="-4.145936981757877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3.8207189714668563E-2"/>
              <c:y val="-7.173940011229935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no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7.1220488702852663E-2"/>
                  <c:h val="7.0418902861022953E-2"/>
                </c:manualLayout>
              </c15:layout>
            </c:ext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4.3370508054522923E-2"/>
              <c:y val="-4.145936981757877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3.9239983477901696E-2"/>
              <c:y val="-6.633499170812610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3.8207189714668563E-2"/>
              <c:y val="-7.173940011229935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no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7.1220488702852663E-2"/>
                  <c:h val="7.0418902861022953E-2"/>
                </c:manualLayout>
              </c15:layout>
            </c:ext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4.3370508054522923E-2"/>
              <c:y val="-4.145936981757877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3.9239983477901696E-2"/>
              <c:y val="-6.633499170812610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3.8207189714668563E-2"/>
              <c:y val="-7.173940011229935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no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7.1220488702852663E-2"/>
                  <c:h val="7.0418902861022953E-2"/>
                </c:manualLayout>
              </c15:layout>
            </c:ext>
          </c:extLst>
        </c:dLbl>
      </c:pivotFmt>
    </c:pivotFmts>
    <c:plotArea>
      <c:layout>
        <c:manualLayout>
          <c:layoutTarget val="inner"/>
          <c:xMode val="edge"/>
          <c:yMode val="edge"/>
          <c:x val="9.5538206871868286E-2"/>
          <c:y val="0.12959324895184776"/>
          <c:w val="0.63238722255427327"/>
          <c:h val="0.6677060935990388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'Задача 1'!$B$4</c:f>
              <c:strCache>
                <c:ptCount val="1"/>
                <c:pt idx="0">
                  <c:v>Количество транзакций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'Задача 1'!$A$5:$A$8</c:f>
              <c:strCach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strCache>
            </c:strRef>
          </c:cat>
          <c:val>
            <c:numRef>
              <c:f>'Задача 1'!$B$5:$B$8</c:f>
              <c:numCache>
                <c:formatCode>General</c:formatCode>
                <c:ptCount val="3"/>
                <c:pt idx="0">
                  <c:v>472</c:v>
                </c:pt>
                <c:pt idx="1">
                  <c:v>550</c:v>
                </c:pt>
                <c:pt idx="2">
                  <c:v>503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B07-4978-B8A9-29C01F04AB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909184432"/>
        <c:axId val="2143334688"/>
      </c:barChart>
      <c:lineChart>
        <c:grouping val="standard"/>
        <c:varyColors val="0"/>
        <c:ser>
          <c:idx val="1"/>
          <c:order val="1"/>
          <c:tx>
            <c:strRef>
              <c:f>'Задача 1'!$C$4</c:f>
              <c:strCache>
                <c:ptCount val="1"/>
                <c:pt idx="0">
                  <c:v>Средняя длительность транзакций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Pt>
            <c:idx val="0"/>
            <c:marker>
              <c:symbol val="none"/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2-8B07-4978-B8A9-29C01F04ABAB}"/>
              </c:ext>
            </c:extLst>
          </c:dPt>
          <c:dPt>
            <c:idx val="1"/>
            <c:marker>
              <c:symbol val="none"/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4-8B07-4978-B8A9-29C01F04ABAB}"/>
              </c:ext>
            </c:extLst>
          </c:dPt>
          <c:dPt>
            <c:idx val="2"/>
            <c:marker>
              <c:symbol val="none"/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6-8B07-4978-B8A9-29C01F04ABAB}"/>
              </c:ext>
            </c:extLst>
          </c:dPt>
          <c:dLbls>
            <c:dLbl>
              <c:idx val="0"/>
              <c:layout>
                <c:manualLayout>
                  <c:x val="-4.3370508054522923E-2"/>
                  <c:y val="-4.145936981757877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8B07-4978-B8A9-29C01F04ABAB}"/>
                </c:ext>
              </c:extLst>
            </c:dLbl>
            <c:dLbl>
              <c:idx val="1"/>
              <c:layout>
                <c:manualLayout>
                  <c:x val="-3.9239983477901696E-2"/>
                  <c:y val="-6.6334991708126109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8B07-4978-B8A9-29C01F04ABAB}"/>
                </c:ext>
              </c:extLst>
            </c:dLbl>
            <c:dLbl>
              <c:idx val="2"/>
              <c:layout>
                <c:manualLayout>
                  <c:x val="-3.8207189714668563E-2"/>
                  <c:y val="-7.1739400112299359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1220488702852663E-2"/>
                      <c:h val="7.041890286102295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8B07-4978-B8A9-29C01F04ABA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'Задача 1'!$A$5:$A$8</c:f>
              <c:strCach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strCache>
            </c:strRef>
          </c:cat>
          <c:val>
            <c:numRef>
              <c:f>'Задача 1'!$C$5:$C$8</c:f>
              <c:numCache>
                <c:formatCode>0.00</c:formatCode>
                <c:ptCount val="3"/>
                <c:pt idx="0">
                  <c:v>139.92796609547162</c:v>
                </c:pt>
                <c:pt idx="1">
                  <c:v>98.869090915445909</c:v>
                </c:pt>
                <c:pt idx="2">
                  <c:v>97.499005949665346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8B07-4978-B8A9-29C01F04AB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6539184"/>
        <c:axId val="86543504"/>
      </c:lineChart>
      <c:catAx>
        <c:axId val="190918443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День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143334688"/>
        <c:crosses val="autoZero"/>
        <c:auto val="1"/>
        <c:lblAlgn val="ctr"/>
        <c:lblOffset val="100"/>
        <c:noMultiLvlLbl val="0"/>
      </c:catAx>
      <c:valAx>
        <c:axId val="21433346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Количество транзакций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909184432"/>
        <c:crosses val="autoZero"/>
        <c:crossBetween val="between"/>
      </c:valAx>
      <c:valAx>
        <c:axId val="86543504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Длительность транзакции, сек</a:t>
                </a:r>
              </a:p>
            </c:rich>
          </c:tx>
          <c:layout>
            <c:manualLayout>
              <c:xMode val="edge"/>
              <c:yMode val="edge"/>
              <c:x val="0.83274950454483254"/>
              <c:y val="0.2953640632528670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6539184"/>
        <c:crosses val="max"/>
        <c:crossBetween val="between"/>
      </c:valAx>
      <c:catAx>
        <c:axId val="8653918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654350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5292335435451476"/>
          <c:y val="0.85917468773772299"/>
          <c:w val="0.32590909090909093"/>
          <c:h val="0.1236585538952784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[Transaction_list2_Васильев.А.В.xlsx]Задача 1!Сводная таблица3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Сбой работы 1 сервера 06.09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3.9435450394354504E-2"/>
              <c:y val="-7.606263982102907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4.1511000415110043E-2"/>
              <c:y val="-4.474272930648769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2.9057700290577002E-2"/>
              <c:y val="-5.816554809843404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2.9057700290577002E-2"/>
              <c:y val="-5.816554809843404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4.1511000415110043E-2"/>
              <c:y val="-4.474272930648769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3.9435450394354504E-2"/>
              <c:y val="-7.606263982102907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2.9057700290577002E-2"/>
              <c:y val="-5.816554809843404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4.1511000415110043E-2"/>
              <c:y val="-4.474272930648769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3.9435450394354504E-2"/>
              <c:y val="-7.606263982102907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dLbl>
          <c:idx val="0"/>
          <c:layout>
            <c:manualLayout>
              <c:x val="-2.9057700290577002E-2"/>
              <c:y val="-5.816554809843404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dLbl>
          <c:idx val="0"/>
          <c:layout>
            <c:manualLayout>
              <c:x val="-4.1511000415110043E-2"/>
              <c:y val="-4.474272930648769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dLbl>
          <c:idx val="0"/>
          <c:layout>
            <c:manualLayout>
              <c:x val="-3.9435450394354504E-2"/>
              <c:y val="-7.606263982102907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dLbl>
          <c:idx val="0"/>
          <c:layout>
            <c:manualLayout>
              <c:x val="-2.9057700290577002E-2"/>
              <c:y val="-5.816554809843404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dLbl>
          <c:idx val="0"/>
          <c:layout>
            <c:manualLayout>
              <c:x val="-4.1511000415110043E-2"/>
              <c:y val="-4.474272930648769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dLbl>
          <c:idx val="0"/>
          <c:layout>
            <c:manualLayout>
              <c:x val="-3.9435450394354504E-2"/>
              <c:y val="-7.606263982102907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dLbl>
          <c:idx val="0"/>
          <c:layout>
            <c:manualLayout>
              <c:x val="-2.9057700290577002E-2"/>
              <c:y val="-5.816554809843404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dLbl>
          <c:idx val="0"/>
          <c:layout>
            <c:manualLayout>
              <c:x val="-4.1511000415110043E-2"/>
              <c:y val="-4.474272930648769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dLbl>
          <c:idx val="0"/>
          <c:layout>
            <c:manualLayout>
              <c:x val="-3.9435450394354504E-2"/>
              <c:y val="-7.606263982102907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9.5429763958279332E-2"/>
          <c:y val="0.116871764920135"/>
          <c:w val="0.62200443563850427"/>
          <c:h val="0.6993496469107731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'Задача 1'!$B$28</c:f>
              <c:strCache>
                <c:ptCount val="1"/>
                <c:pt idx="0">
                  <c:v>Количество транзакций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'Задача 1'!$A$29:$A$32</c:f>
              <c:strCach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strCache>
            </c:strRef>
          </c:cat>
          <c:val>
            <c:numRef>
              <c:f>'Задача 1'!$B$29:$B$32</c:f>
              <c:numCache>
                <c:formatCode>General</c:formatCode>
                <c:ptCount val="3"/>
                <c:pt idx="0">
                  <c:v>153</c:v>
                </c:pt>
                <c:pt idx="1">
                  <c:v>207</c:v>
                </c:pt>
                <c:pt idx="2">
                  <c:v>204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CF1-4D60-BC9C-B4580FC466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612656"/>
        <c:axId val="4613136"/>
      </c:barChart>
      <c:lineChart>
        <c:grouping val="standard"/>
        <c:varyColors val="0"/>
        <c:ser>
          <c:idx val="1"/>
          <c:order val="1"/>
          <c:tx>
            <c:strRef>
              <c:f>'Задача 1'!$C$28</c:f>
              <c:strCache>
                <c:ptCount val="1"/>
                <c:pt idx="0">
                  <c:v>Средняя длительность транзакций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2.9057700290577002E-2"/>
                  <c:y val="-5.816554809843404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CF1-4D60-BC9C-B4580FC466B7}"/>
                </c:ext>
              </c:extLst>
            </c:dLbl>
            <c:dLbl>
              <c:idx val="1"/>
              <c:layout>
                <c:manualLayout>
                  <c:x val="-4.1511000415110043E-2"/>
                  <c:y val="-4.474272930648769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9CF1-4D60-BC9C-B4580FC466B7}"/>
                </c:ext>
              </c:extLst>
            </c:dLbl>
            <c:dLbl>
              <c:idx val="2"/>
              <c:layout>
                <c:manualLayout>
                  <c:x val="-3.9435450394354504E-2"/>
                  <c:y val="-7.606263982102907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CF1-4D60-BC9C-B4580FC466B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'Задача 1'!$A$29:$A$32</c:f>
              <c:strCach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strCache>
            </c:strRef>
          </c:cat>
          <c:val>
            <c:numRef>
              <c:f>'Задача 1'!$C$29:$C$32</c:f>
              <c:numCache>
                <c:formatCode>0.00</c:formatCode>
                <c:ptCount val="3"/>
                <c:pt idx="0">
                  <c:v>207.90849670986918</c:v>
                </c:pt>
                <c:pt idx="1">
                  <c:v>230.29468595860121</c:v>
                </c:pt>
                <c:pt idx="2">
                  <c:v>186.33333329583846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9CF1-4D60-BC9C-B4580FC466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0004656"/>
        <c:axId val="130003696"/>
      </c:lineChart>
      <c:catAx>
        <c:axId val="461265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000" b="0" i="0" u="none" strike="noStrike" kern="1200" baseline="0">
                    <a:solidFill>
                      <a:srgbClr val="000000">
                        <a:lumMod val="65000"/>
                        <a:lumOff val="35000"/>
                      </a:srgbClr>
                    </a:solidFill>
                  </a:rPr>
                  <a:t>День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613136"/>
        <c:crosses val="autoZero"/>
        <c:auto val="1"/>
        <c:lblAlgn val="ctr"/>
        <c:lblOffset val="100"/>
        <c:noMultiLvlLbl val="0"/>
      </c:catAx>
      <c:valAx>
        <c:axId val="46131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000" b="0" i="0" u="none" strike="noStrike" kern="1200" baseline="0">
                    <a:solidFill>
                      <a:srgbClr val="000000">
                        <a:lumMod val="65000"/>
                        <a:lumOff val="35000"/>
                      </a:srgbClr>
                    </a:solidFill>
                  </a:rPr>
                  <a:t>Количество транзакций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612656"/>
        <c:crosses val="autoZero"/>
        <c:crossBetween val="between"/>
      </c:valAx>
      <c:valAx>
        <c:axId val="130003696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000" b="0" i="0" u="none" strike="noStrike" kern="1200" baseline="0" dirty="0">
                    <a:solidFill>
                      <a:srgbClr val="000000">
                        <a:lumMod val="65000"/>
                        <a:lumOff val="35000"/>
                      </a:srgbClr>
                    </a:solidFill>
                  </a:rPr>
                  <a:t>Длительность транзакции, сек</a:t>
                </a:r>
              </a:p>
            </c:rich>
          </c:tx>
          <c:layout>
            <c:manualLayout>
              <c:xMode val="edge"/>
              <c:yMode val="edge"/>
              <c:x val="0.8200032240849231"/>
              <c:y val="0.29415500991706584"/>
            </c:manualLayout>
          </c:layout>
          <c:overlay val="0"/>
          <c:spPr>
            <a:noFill/>
            <a:ln>
              <a:noFill/>
            </a:ln>
            <a:effectLst/>
          </c:spPr>
        </c:title>
        <c:numFmt formatCode="0.0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30004656"/>
        <c:crosses val="max"/>
        <c:crossBetween val="between"/>
      </c:valAx>
      <c:catAx>
        <c:axId val="13000465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30003696"/>
        <c:crosses val="autoZero"/>
        <c:auto val="1"/>
        <c:lblAlgn val="ctr"/>
        <c:lblOffset val="100"/>
        <c:noMultiLvlLbl val="0"/>
      </c:catAx>
    </c:plotArea>
    <c:legend>
      <c:legendPos val="r"/>
      <c:layout>
        <c:manualLayout>
          <c:xMode val="edge"/>
          <c:yMode val="edge"/>
          <c:x val="0.6607399506440208"/>
          <c:y val="0.86920588543245803"/>
          <c:w val="0.32553916004540295"/>
          <c:h val="0.13079411456754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/>
  </c:chart>
  <c:txPr>
    <a:bodyPr/>
    <a:lstStyle/>
    <a:p>
      <a:pPr>
        <a:defRPr/>
      </a:pPr>
      <a:endParaRPr lang="ru-RU"/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[Transaction_list2_Васильев.А.В.xlsx]Задача 1!Сводная таблица2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Сбой работы 2 сервера 07.09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3.3458803847762481E-2"/>
              <c:y val="-7.925407925407924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3.345880384776246E-2"/>
              <c:y val="-6.060606060606069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4.8097030531158512E-2"/>
              <c:y val="-5.12820512820512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3.345880384776246E-2"/>
              <c:y val="-6.060606060606069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3.3458803847762481E-2"/>
              <c:y val="-7.925407925407924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4.8097030531158512E-2"/>
              <c:y val="-5.12820512820512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3.345880384776246E-2"/>
              <c:y val="-6.060606060606069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3.3458803847762481E-2"/>
              <c:y val="-7.925407925407924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4.8097030531158512E-2"/>
              <c:y val="-5.12820512820512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7.405352149972351E-2"/>
          <c:y val="0.36206623108281677"/>
          <c:w val="0.51103448957211595"/>
          <c:h val="0.442299065763632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'Задача 1'!$B$15</c:f>
              <c:strCache>
                <c:ptCount val="1"/>
                <c:pt idx="0">
                  <c:v>Количество транзакций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'Задача 1'!$A$16:$A$19</c:f>
              <c:strCach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strCache>
            </c:strRef>
          </c:cat>
          <c:val>
            <c:numRef>
              <c:f>'Задача 1'!$B$16:$B$19</c:f>
              <c:numCache>
                <c:formatCode>General</c:formatCode>
                <c:ptCount val="3"/>
                <c:pt idx="0">
                  <c:v>150</c:v>
                </c:pt>
                <c:pt idx="1">
                  <c:v>168</c:v>
                </c:pt>
                <c:pt idx="2">
                  <c:v>148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B7-4A74-A0F2-81FDB28971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37233168"/>
        <c:axId val="2137234128"/>
      </c:barChart>
      <c:lineChart>
        <c:grouping val="standard"/>
        <c:varyColors val="0"/>
        <c:ser>
          <c:idx val="1"/>
          <c:order val="1"/>
          <c:tx>
            <c:strRef>
              <c:f>'Задача 1'!$C$15</c:f>
              <c:strCache>
                <c:ptCount val="1"/>
                <c:pt idx="0">
                  <c:v>Средняя длительность транзакций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Pt>
            <c:idx val="0"/>
            <c:marker>
              <c:symbol val="none"/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2-6BB7-4A74-A0F2-81FDB28971E7}"/>
              </c:ext>
            </c:extLst>
          </c:dPt>
          <c:dPt>
            <c:idx val="1"/>
            <c:marker>
              <c:symbol val="none"/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4-6BB7-4A74-A0F2-81FDB28971E7}"/>
              </c:ext>
            </c:extLst>
          </c:dPt>
          <c:dPt>
            <c:idx val="2"/>
            <c:marker>
              <c:symbol val="none"/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6-6BB7-4A74-A0F2-81FDB28971E7}"/>
              </c:ext>
            </c:extLst>
          </c:dPt>
          <c:dLbls>
            <c:dLbl>
              <c:idx val="0"/>
              <c:layout>
                <c:manualLayout>
                  <c:x val="-3.345880384776246E-2"/>
                  <c:y val="-6.060606060606069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BB7-4A74-A0F2-81FDB28971E7}"/>
                </c:ext>
              </c:extLst>
            </c:dLbl>
            <c:dLbl>
              <c:idx val="1"/>
              <c:layout>
                <c:manualLayout>
                  <c:x val="-3.3458803847762481E-2"/>
                  <c:y val="-7.9254079254079249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BB7-4A74-A0F2-81FDB28971E7}"/>
                </c:ext>
              </c:extLst>
            </c:dLbl>
            <c:dLbl>
              <c:idx val="2"/>
              <c:layout>
                <c:manualLayout>
                  <c:x val="-4.8097030531158512E-2"/>
                  <c:y val="-5.12820512820512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BB7-4A74-A0F2-81FDB28971E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'Задача 1'!$A$16:$A$19</c:f>
              <c:strCach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strCache>
            </c:strRef>
          </c:cat>
          <c:val>
            <c:numRef>
              <c:f>'Задача 1'!$C$16:$C$19</c:f>
              <c:numCache>
                <c:formatCode>0.00</c:formatCode>
                <c:ptCount val="3"/>
                <c:pt idx="0">
                  <c:v>64.986666636541486</c:v>
                </c:pt>
                <c:pt idx="1">
                  <c:v>69.70238094259652</c:v>
                </c:pt>
                <c:pt idx="2">
                  <c:v>114.07432432421734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6BB7-4A74-A0F2-81FDB28971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9216608"/>
        <c:axId val="89220928"/>
      </c:lineChart>
      <c:catAx>
        <c:axId val="213723316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000" b="0" i="0" u="none" strike="noStrike" kern="1200" baseline="0">
                    <a:solidFill>
                      <a:srgbClr val="000000">
                        <a:lumMod val="65000"/>
                        <a:lumOff val="35000"/>
                      </a:srgbClr>
                    </a:solidFill>
                  </a:rPr>
                  <a:t>День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137234128"/>
        <c:crosses val="autoZero"/>
        <c:auto val="1"/>
        <c:lblAlgn val="ctr"/>
        <c:lblOffset val="100"/>
        <c:noMultiLvlLbl val="0"/>
      </c:catAx>
      <c:valAx>
        <c:axId val="21372341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000" b="0" i="0" u="none" strike="noStrike" kern="1200" baseline="0">
                    <a:solidFill>
                      <a:srgbClr val="000000">
                        <a:lumMod val="65000"/>
                        <a:lumOff val="35000"/>
                      </a:srgbClr>
                    </a:solidFill>
                  </a:rPr>
                  <a:t>Количество транзакций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137233168"/>
        <c:crosses val="autoZero"/>
        <c:crossBetween val="between"/>
      </c:valAx>
      <c:valAx>
        <c:axId val="89220928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000" b="0" i="0" u="none" strike="noStrike" kern="1200" baseline="0">
                    <a:solidFill>
                      <a:srgbClr val="000000">
                        <a:lumMod val="65000"/>
                        <a:lumOff val="35000"/>
                      </a:srgbClr>
                    </a:solidFill>
                  </a:rPr>
                  <a:t>Длительность транзакции, сек</a:t>
                </a:r>
              </a:p>
            </c:rich>
          </c:tx>
          <c:layout>
            <c:manualLayout>
              <c:xMode val="edge"/>
              <c:yMode val="edge"/>
              <c:x val="0.64426076933261678"/>
              <c:y val="0.3100567748180413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9216608"/>
        <c:crosses val="max"/>
        <c:crossBetween val="between"/>
      </c:valAx>
      <c:catAx>
        <c:axId val="8921660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922092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3623022769519531"/>
          <c:y val="0.45383491913266599"/>
          <c:w val="0.20782608695652174"/>
          <c:h val="0.1802268635532334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[Transaction_list2_Васильев.А.В.xlsx]задача 2!Сводная таблица4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Анализ</a:t>
            </a:r>
            <a:r>
              <a:rPr lang="ru-RU" baseline="0"/>
              <a:t> акции 7 сентбря</a:t>
            </a:r>
            <a:endParaRPr lang="ru-RU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'задача 2'!$B$3</c:f>
              <c:strCache>
                <c:ptCount val="1"/>
                <c:pt idx="0">
                  <c:v>Количество транзакций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'задача 2'!$A$4:$A$7</c:f>
              <c:strCach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strCache>
            </c:strRef>
          </c:cat>
          <c:val>
            <c:numRef>
              <c:f>'задача 2'!$B$4:$B$7</c:f>
              <c:numCache>
                <c:formatCode>General</c:formatCode>
                <c:ptCount val="3"/>
                <c:pt idx="0">
                  <c:v>3388</c:v>
                </c:pt>
                <c:pt idx="1">
                  <c:v>3474</c:v>
                </c:pt>
                <c:pt idx="2">
                  <c:v>3415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40F-4E2D-81AE-7E31BB1BC48E}"/>
            </c:ext>
          </c:extLst>
        </c:ser>
        <c:ser>
          <c:idx val="1"/>
          <c:order val="1"/>
          <c:tx>
            <c:strRef>
              <c:f>'задача 2'!$C$3</c:f>
              <c:strCache>
                <c:ptCount val="1"/>
                <c:pt idx="0">
                  <c:v>Средний чек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'задача 2'!$A$4:$A$7</c:f>
              <c:strCach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strCache>
            </c:strRef>
          </c:cat>
          <c:val>
            <c:numRef>
              <c:f>'задача 2'!$C$4:$C$7</c:f>
              <c:numCache>
                <c:formatCode>#\ ##0\ "₽"</c:formatCode>
                <c:ptCount val="3"/>
                <c:pt idx="0">
                  <c:v>18458.94598583235</c:v>
                </c:pt>
                <c:pt idx="1">
                  <c:v>18401.787852619458</c:v>
                </c:pt>
                <c:pt idx="2">
                  <c:v>19914.488140556368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40F-4E2D-81AE-7E31BB1BC48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89869360"/>
        <c:axId val="89867920"/>
      </c:barChart>
      <c:catAx>
        <c:axId val="8986936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400"/>
                  <a:t>День</a:t>
                </a:r>
              </a:p>
            </c:rich>
          </c:tx>
          <c:layout>
            <c:manualLayout>
              <c:xMode val="edge"/>
              <c:yMode val="edge"/>
              <c:x val="0.36876756214296735"/>
              <c:y val="0.9254810819108972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9867920"/>
        <c:crosses val="autoZero"/>
        <c:auto val="1"/>
        <c:lblAlgn val="ctr"/>
        <c:lblOffset val="100"/>
        <c:noMultiLvlLbl val="0"/>
      </c:catAx>
      <c:valAx>
        <c:axId val="898679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Количество транзакций с картой лояльности</a:t>
                </a:r>
              </a:p>
            </c:rich>
          </c:tx>
          <c:layout>
            <c:manualLayout>
              <c:xMode val="edge"/>
              <c:yMode val="edge"/>
              <c:x val="1.9936204146730464E-2"/>
              <c:y val="0.170395875767488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98693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9625849158561059"/>
          <c:y val="0.35537903051475794"/>
          <c:w val="0.3012905280222325"/>
          <c:h val="0.2800589373877219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Анализ акции 7 сентября</a:t>
            </a:r>
          </a:p>
        </c:rich>
      </c:tx>
      <c:layout>
        <c:manualLayout>
          <c:xMode val="edge"/>
          <c:yMode val="edge"/>
          <c:x val="0.34001377952755907"/>
          <c:y val="2.777777777777777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3197756642426864"/>
          <c:y val="0.15811540058115403"/>
          <c:w val="0.8461188095215697"/>
          <c:h val="0.7497373693792635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 w="19050">
              <a:solidFill>
                <a:schemeClr val="lt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'задача 2'!$A$23:$A$25</c:f>
              <c:strCache>
                <c:ptCount val="3"/>
                <c:pt idx="0">
                  <c:v>выручка</c:v>
                </c:pt>
                <c:pt idx="1">
                  <c:v>Затраты </c:v>
                </c:pt>
                <c:pt idx="2">
                  <c:v>прибыль от проведения акции</c:v>
                </c:pt>
              </c:strCache>
            </c:strRef>
          </c:cat>
          <c:val>
            <c:numRef>
              <c:f>'задача 2'!$B$23:$B$25</c:f>
              <c:numCache>
                <c:formatCode>_("₽"* #,##0.00_);_("₽"* \(#,##0.00\);_("₽"* "-"??_);_(@_)</c:formatCode>
                <c:ptCount val="3"/>
                <c:pt idx="0" formatCode="_-* #\ ##0.0\ &quot;₽&quot;_-;\-* #\ ##0.0\ &quot;₽&quot;_-;_-* &quot;-&quot;?\ &quot;₽&quot;_-;_-@_-">
                  <c:v>5069497.1399009051</c:v>
                </c:pt>
                <c:pt idx="1">
                  <c:v>2418500</c:v>
                </c:pt>
                <c:pt idx="2">
                  <c:v>2650997.1399009051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E94-4CCB-91D4-0DDBB5DA686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86538704"/>
        <c:axId val="109698528"/>
      </c:barChart>
      <c:catAx>
        <c:axId val="8653870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9698528"/>
        <c:crosses val="autoZero"/>
        <c:auto val="1"/>
        <c:lblAlgn val="ctr"/>
        <c:lblOffset val="100"/>
        <c:noMultiLvlLbl val="0"/>
      </c:catAx>
      <c:valAx>
        <c:axId val="1096985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* #\ ##0.0\ &quot;₽&quot;_-;\-* #\ ##0.0\ &quot;₽&quot;_-;_-* &quot;-&quot;?\ &quot;₽&quot;_-;_-@_-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65387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[Transaction_list2_Васильев.А.В.xlsx]Оценка потерь!Сводная таблица1</c:name>
    <c:fmtId val="1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Потери</a:t>
            </a:r>
            <a:r>
              <a:rPr lang="ru-RU" baseline="0"/>
              <a:t> по программе лояльности</a:t>
            </a:r>
            <a:endParaRPr lang="ru-RU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'Оценка потерь'!$B$3</c:f>
              <c:strCache>
                <c:ptCount val="1"/>
                <c:pt idx="0">
                  <c:v>Количество транзакций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'Оценка потерь'!$A$4:$A$7</c:f>
              <c:strCach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strCache>
            </c:strRef>
          </c:cat>
          <c:val>
            <c:numRef>
              <c:f>'Оценка потерь'!$B$4:$B$7</c:f>
              <c:numCache>
                <c:formatCode>General</c:formatCode>
                <c:ptCount val="3"/>
                <c:pt idx="0">
                  <c:v>10120</c:v>
                </c:pt>
                <c:pt idx="1">
                  <c:v>10217</c:v>
                </c:pt>
                <c:pt idx="2">
                  <c:v>10053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DFE-4684-BA34-093337EC2B2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86541584"/>
        <c:axId val="86542544"/>
      </c:barChart>
      <c:lineChart>
        <c:grouping val="standard"/>
        <c:varyColors val="0"/>
        <c:ser>
          <c:idx val="1"/>
          <c:order val="1"/>
          <c:tx>
            <c:strRef>
              <c:f>'Оценка потерь'!$C$3</c:f>
              <c:strCache>
                <c:ptCount val="1"/>
                <c:pt idx="0">
                  <c:v>Сумма скидок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'Оценка потерь'!$A$4:$A$7</c:f>
              <c:strCach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strCache>
            </c:strRef>
          </c:cat>
          <c:val>
            <c:numRef>
              <c:f>'Оценка потерь'!$C$4:$C$7</c:f>
              <c:numCache>
                <c:formatCode>#\ ##0\ "₽"</c:formatCode>
                <c:ptCount val="3"/>
                <c:pt idx="0">
                  <c:v>1264037.2381550407</c:v>
                </c:pt>
                <c:pt idx="1">
                  <c:v>1322665.6928710742</c:v>
                </c:pt>
                <c:pt idx="2">
                  <c:v>1414248.3708549393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DFE-4684-BA34-093337EC2B2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18865024"/>
        <c:axId val="118864064"/>
      </c:lineChart>
      <c:catAx>
        <c:axId val="8654158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Дни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6542544"/>
        <c:crosses val="autoZero"/>
        <c:auto val="1"/>
        <c:lblAlgn val="ctr"/>
        <c:lblOffset val="100"/>
        <c:noMultiLvlLbl val="0"/>
      </c:catAx>
      <c:valAx>
        <c:axId val="865425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количество</a:t>
                </a:r>
                <a:r>
                  <a:rPr lang="ru-RU" baseline="0"/>
                  <a:t> транзакций</a:t>
                </a:r>
                <a:endParaRPr lang="ru-RU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6541584"/>
        <c:crosses val="autoZero"/>
        <c:crossBetween val="between"/>
      </c:valAx>
      <c:valAx>
        <c:axId val="118864064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Общая сумма скидок в день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#\ ##0\ &quot;₽&quot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8865024"/>
        <c:crosses val="max"/>
        <c:crossBetween val="between"/>
      </c:valAx>
      <c:catAx>
        <c:axId val="11886502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1886406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3093234583325617"/>
          <c:y val="0.42004249411605471"/>
          <c:w val="0.25562099478809602"/>
          <c:h val="0.312381099188654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[Transaction_list2_Васильев.А.В.xlsx]Моделирование!Сводная таблица3</c:name>
    <c:fmtId val="1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Потери</a:t>
            </a:r>
            <a:r>
              <a:rPr lang="ru-RU" baseline="0"/>
              <a:t> по изменённой программе лояльности</a:t>
            </a:r>
            <a:endParaRPr lang="ru-RU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5.2094037624821135E-2"/>
              <c:y val="-4.4222805482648543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4.959503510871896E-2"/>
              <c:y val="8.742957130358705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2.9687970751329267E-2"/>
              <c:y val="3.409623797025360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2.9687970751329267E-2"/>
              <c:y val="3.409623797025360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5.2094037624821135E-2"/>
              <c:y val="-4.4222805482648543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4.959503510871896E-2"/>
              <c:y val="8.742957130358705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2.9687970751329267E-2"/>
              <c:y val="3.409623797025360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5.2094037624821135E-2"/>
              <c:y val="-4.4222805482648543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4.959503510871896E-2"/>
              <c:y val="8.742957130358705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2.9687970751329267E-2"/>
              <c:y val="3.409623797025360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5.2094037624821135E-2"/>
              <c:y val="-4.4222805482648543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4.959503510871896E-2"/>
              <c:y val="8.742957130358705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2.9687970751329267E-2"/>
              <c:y val="3.409623797025360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5.2094037624821135E-2"/>
              <c:y val="-4.4222805482648543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4.959503510871896E-2"/>
              <c:y val="8.742957130358705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Моделирование!$B$1</c:f>
              <c:strCache>
                <c:ptCount val="1"/>
                <c:pt idx="0">
                  <c:v>Количество транзакций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Моделирование!$A$2:$A$5</c:f>
              <c:strCach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strCache>
            </c:strRef>
          </c:cat>
          <c:val>
            <c:numRef>
              <c:f>Моделирование!$B$2:$B$5</c:f>
              <c:numCache>
                <c:formatCode>General</c:formatCode>
                <c:ptCount val="3"/>
                <c:pt idx="0">
                  <c:v>10120</c:v>
                </c:pt>
                <c:pt idx="1">
                  <c:v>10217</c:v>
                </c:pt>
                <c:pt idx="2">
                  <c:v>10053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225-4C3F-83F0-C47D1130199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70226016"/>
        <c:axId val="270221696"/>
      </c:barChart>
      <c:lineChart>
        <c:grouping val="standard"/>
        <c:varyColors val="0"/>
        <c:ser>
          <c:idx val="1"/>
          <c:order val="1"/>
          <c:tx>
            <c:strRef>
              <c:f>Моделирование!$C$1</c:f>
              <c:strCache>
                <c:ptCount val="1"/>
                <c:pt idx="0">
                  <c:v>сумма скидок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Pt>
            <c:idx val="0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1-6225-4C3F-83F0-C47D11301995}"/>
              </c:ext>
            </c:extLst>
          </c:dPt>
          <c:dPt>
            <c:idx val="1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6225-4C3F-83F0-C47D11301995}"/>
              </c:ext>
            </c:extLst>
          </c:dPt>
          <c:dPt>
            <c:idx val="2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3-6225-4C3F-83F0-C47D11301995}"/>
              </c:ext>
            </c:extLst>
          </c:dPt>
          <c:dLbls>
            <c:dLbl>
              <c:idx val="0"/>
              <c:layout>
                <c:manualLayout>
                  <c:x val="2.9687970751329267E-2"/>
                  <c:y val="3.409623797025360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225-4C3F-83F0-C47D11301995}"/>
                </c:ext>
              </c:extLst>
            </c:dLbl>
            <c:dLbl>
              <c:idx val="1"/>
              <c:layout>
                <c:manualLayout>
                  <c:x val="5.2094037624821135E-2"/>
                  <c:y val="-4.4222805482648543E-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225-4C3F-83F0-C47D11301995}"/>
                </c:ext>
              </c:extLst>
            </c:dLbl>
            <c:dLbl>
              <c:idx val="2"/>
              <c:layout>
                <c:manualLayout>
                  <c:x val="-4.959503510871896E-2"/>
                  <c:y val="8.742957130358705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225-4C3F-83F0-C47D1130199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Моделирование!$A$2:$A$5</c:f>
              <c:strCach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strCache>
            </c:strRef>
          </c:cat>
          <c:val>
            <c:numRef>
              <c:f>Моделирование!$C$2:$C$5</c:f>
              <c:numCache>
                <c:formatCode>#\ ##0\ "₽"</c:formatCode>
                <c:ptCount val="3"/>
                <c:pt idx="0">
                  <c:v>1105258.1710397289</c:v>
                </c:pt>
                <c:pt idx="1">
                  <c:v>1153369.11735141</c:v>
                </c:pt>
                <c:pt idx="2">
                  <c:v>1237371.7944828703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6225-4C3F-83F0-C47D1130199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70224096"/>
        <c:axId val="270223616"/>
      </c:lineChart>
      <c:catAx>
        <c:axId val="27022601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/>
                  <a:t>Дни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70221696"/>
        <c:crosses val="autoZero"/>
        <c:auto val="1"/>
        <c:lblAlgn val="ctr"/>
        <c:lblOffset val="100"/>
        <c:noMultiLvlLbl val="0"/>
      </c:catAx>
      <c:valAx>
        <c:axId val="2702216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количество транзакций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70226016"/>
        <c:crosses val="autoZero"/>
        <c:crossBetween val="between"/>
      </c:valAx>
      <c:valAx>
        <c:axId val="270223616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Общая сумма скидок в день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#\ ##0\ &quot;₽&quot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70224096"/>
        <c:crosses val="max"/>
        <c:crossBetween val="between"/>
      </c:valAx>
      <c:catAx>
        <c:axId val="27022409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27022361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2735160757815442"/>
          <c:y val="0.42004259281843631"/>
          <c:w val="0.25884516235732358"/>
          <c:h val="0.312381172592557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4B50124-1747-4204-A850-37EAA13DC57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ru-RU"/>
        </a:p>
      </dgm:t>
    </dgm:pt>
    <dgm:pt modelId="{DEA88983-F590-485A-AB66-B225617EA6B8}">
      <dgm:prSet/>
      <dgm:spPr/>
      <dgm:t>
        <a:bodyPr/>
        <a:lstStyle/>
        <a:p>
          <a:r>
            <a:rPr lang="ru-RU"/>
            <a:t>Анализ торговых точек 1-4 сентября</a:t>
          </a:r>
        </a:p>
      </dgm:t>
    </dgm:pt>
    <dgm:pt modelId="{04ABD58C-48C3-40ED-BAC5-C95F6D7DD23C}" type="parTrans" cxnId="{44AC5ED7-E1B5-4108-B795-CF1163602CA4}">
      <dgm:prSet/>
      <dgm:spPr/>
      <dgm:t>
        <a:bodyPr/>
        <a:lstStyle/>
        <a:p>
          <a:endParaRPr lang="ru-RU"/>
        </a:p>
      </dgm:t>
    </dgm:pt>
    <dgm:pt modelId="{D2AFEB5F-C7F1-4D68-9527-49587D74C3A0}" type="sibTrans" cxnId="{44AC5ED7-E1B5-4108-B795-CF1163602CA4}">
      <dgm:prSet/>
      <dgm:spPr/>
      <dgm:t>
        <a:bodyPr/>
        <a:lstStyle/>
        <a:p>
          <a:endParaRPr lang="ru-RU"/>
        </a:p>
      </dgm:t>
    </dgm:pt>
    <dgm:pt modelId="{F8888357-AB4B-4B94-8DF8-D8B6A5BE13E7}">
      <dgm:prSet/>
      <dgm:spPr/>
      <dgm:t>
        <a:bodyPr/>
        <a:lstStyle/>
        <a:p>
          <a:r>
            <a:rPr lang="ru-RU" dirty="0"/>
            <a:t>Анализ торговых точек 5-7 сентября</a:t>
          </a:r>
        </a:p>
      </dgm:t>
    </dgm:pt>
    <dgm:pt modelId="{086304F4-7A47-4128-9EAE-6EB7415C7C3B}" type="parTrans" cxnId="{A65324F3-BE28-4695-A40D-3CF2C0180E77}">
      <dgm:prSet/>
      <dgm:spPr/>
      <dgm:t>
        <a:bodyPr/>
        <a:lstStyle/>
        <a:p>
          <a:endParaRPr lang="ru-RU"/>
        </a:p>
      </dgm:t>
    </dgm:pt>
    <dgm:pt modelId="{E3C72FFC-AEE3-42DF-8CBE-E3D62DB0EC09}" type="sibTrans" cxnId="{A65324F3-BE28-4695-A40D-3CF2C0180E77}">
      <dgm:prSet/>
      <dgm:spPr/>
      <dgm:t>
        <a:bodyPr/>
        <a:lstStyle/>
        <a:p>
          <a:endParaRPr lang="ru-RU"/>
        </a:p>
      </dgm:t>
    </dgm:pt>
    <dgm:pt modelId="{BAACACE8-78E3-4806-9558-A217BE79518D}">
      <dgm:prSet/>
      <dgm:spPr/>
      <dgm:t>
        <a:bodyPr/>
        <a:lstStyle/>
        <a:p>
          <a:r>
            <a:rPr lang="ru-RU"/>
            <a:t>Дашборды</a:t>
          </a:r>
        </a:p>
      </dgm:t>
    </dgm:pt>
    <dgm:pt modelId="{0F760ACA-2CC8-44B2-83E8-5C88DA026681}" type="parTrans" cxnId="{F923B2B9-7323-480F-B6E1-736874CBAADA}">
      <dgm:prSet/>
      <dgm:spPr/>
      <dgm:t>
        <a:bodyPr/>
        <a:lstStyle/>
        <a:p>
          <a:endParaRPr lang="ru-RU"/>
        </a:p>
      </dgm:t>
    </dgm:pt>
    <dgm:pt modelId="{C1EA0272-BC81-4C53-82B6-F3B35D1C1692}" type="sibTrans" cxnId="{F923B2B9-7323-480F-B6E1-736874CBAADA}">
      <dgm:prSet/>
      <dgm:spPr/>
      <dgm:t>
        <a:bodyPr/>
        <a:lstStyle/>
        <a:p>
          <a:endParaRPr lang="ru-RU"/>
        </a:p>
      </dgm:t>
    </dgm:pt>
    <dgm:pt modelId="{00BC0B99-B7BC-46DB-BDF1-27B3F81F8A2C}">
      <dgm:prSet/>
      <dgm:spPr/>
      <dgm:t>
        <a:bodyPr/>
        <a:lstStyle/>
        <a:p>
          <a:r>
            <a:rPr lang="ru-RU"/>
            <a:t>Корректировка калькулятора</a:t>
          </a:r>
        </a:p>
      </dgm:t>
    </dgm:pt>
    <dgm:pt modelId="{BDE35DF4-E5C3-41F5-9AA4-D26FB920103A}" type="parTrans" cxnId="{002F2B27-2D1A-43B9-8839-79F1CFA55FCC}">
      <dgm:prSet/>
      <dgm:spPr/>
      <dgm:t>
        <a:bodyPr/>
        <a:lstStyle/>
        <a:p>
          <a:endParaRPr lang="ru-RU"/>
        </a:p>
      </dgm:t>
    </dgm:pt>
    <dgm:pt modelId="{12D3B045-DC91-4075-94AC-F17D175A9067}" type="sibTrans" cxnId="{002F2B27-2D1A-43B9-8839-79F1CFA55FCC}">
      <dgm:prSet/>
      <dgm:spPr/>
      <dgm:t>
        <a:bodyPr/>
        <a:lstStyle/>
        <a:p>
          <a:endParaRPr lang="ru-RU"/>
        </a:p>
      </dgm:t>
    </dgm:pt>
    <dgm:pt modelId="{B3A8651B-9642-41A0-8898-975DFDFBAA5B}" type="pres">
      <dgm:prSet presAssocID="{04B50124-1747-4204-A850-37EAA13DC579}" presName="linear" presStyleCnt="0">
        <dgm:presLayoutVars>
          <dgm:animLvl val="lvl"/>
          <dgm:resizeHandles val="exact"/>
        </dgm:presLayoutVars>
      </dgm:prSet>
      <dgm:spPr/>
    </dgm:pt>
    <dgm:pt modelId="{9429C4DD-947B-4FBB-94F6-6F0A6B8A8859}" type="pres">
      <dgm:prSet presAssocID="{DEA88983-F590-485A-AB66-B225617EA6B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7C35731-FBCE-49FA-B117-F5B9F080AAC3}" type="pres">
      <dgm:prSet presAssocID="{D2AFEB5F-C7F1-4D68-9527-49587D74C3A0}" presName="spacer" presStyleCnt="0"/>
      <dgm:spPr/>
    </dgm:pt>
    <dgm:pt modelId="{D71DA6D3-B1D5-4D64-9440-1AA88AB411F8}" type="pres">
      <dgm:prSet presAssocID="{F8888357-AB4B-4B94-8DF8-D8B6A5BE13E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E9B32C9-60D7-4329-A566-05ADD634E9C5}" type="pres">
      <dgm:prSet presAssocID="{E3C72FFC-AEE3-42DF-8CBE-E3D62DB0EC09}" presName="spacer" presStyleCnt="0"/>
      <dgm:spPr/>
    </dgm:pt>
    <dgm:pt modelId="{0A22D7D5-FBCF-41AE-ABA2-8F01E76933AA}" type="pres">
      <dgm:prSet presAssocID="{BAACACE8-78E3-4806-9558-A217BE79518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7132B99-3998-4D70-B64F-A814FAF3686A}" type="pres">
      <dgm:prSet presAssocID="{C1EA0272-BC81-4C53-82B6-F3B35D1C1692}" presName="spacer" presStyleCnt="0"/>
      <dgm:spPr/>
    </dgm:pt>
    <dgm:pt modelId="{A144E823-7212-4896-894A-1704E78934AA}" type="pres">
      <dgm:prSet presAssocID="{00BC0B99-B7BC-46DB-BDF1-27B3F81F8A2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02F2B27-2D1A-43B9-8839-79F1CFA55FCC}" srcId="{04B50124-1747-4204-A850-37EAA13DC579}" destId="{00BC0B99-B7BC-46DB-BDF1-27B3F81F8A2C}" srcOrd="3" destOrd="0" parTransId="{BDE35DF4-E5C3-41F5-9AA4-D26FB920103A}" sibTransId="{12D3B045-DC91-4075-94AC-F17D175A9067}"/>
    <dgm:cxn modelId="{17BAD74C-E2A5-4B71-9E6E-34389DEA5F05}" type="presOf" srcId="{BAACACE8-78E3-4806-9558-A217BE79518D}" destId="{0A22D7D5-FBCF-41AE-ABA2-8F01E76933AA}" srcOrd="0" destOrd="0" presId="urn:microsoft.com/office/officeart/2005/8/layout/vList2"/>
    <dgm:cxn modelId="{A04C4280-7B63-49A4-BD85-65F6492C81B8}" type="presOf" srcId="{F8888357-AB4B-4B94-8DF8-D8B6A5BE13E7}" destId="{D71DA6D3-B1D5-4D64-9440-1AA88AB411F8}" srcOrd="0" destOrd="0" presId="urn:microsoft.com/office/officeart/2005/8/layout/vList2"/>
    <dgm:cxn modelId="{57DDCEB7-A0DA-4963-811A-F5D92F7EFB35}" type="presOf" srcId="{00BC0B99-B7BC-46DB-BDF1-27B3F81F8A2C}" destId="{A144E823-7212-4896-894A-1704E78934AA}" srcOrd="0" destOrd="0" presId="urn:microsoft.com/office/officeart/2005/8/layout/vList2"/>
    <dgm:cxn modelId="{F923B2B9-7323-480F-B6E1-736874CBAADA}" srcId="{04B50124-1747-4204-A850-37EAA13DC579}" destId="{BAACACE8-78E3-4806-9558-A217BE79518D}" srcOrd="2" destOrd="0" parTransId="{0F760ACA-2CC8-44B2-83E8-5C88DA026681}" sibTransId="{C1EA0272-BC81-4C53-82B6-F3B35D1C1692}"/>
    <dgm:cxn modelId="{86D70ED4-ED91-47C6-855E-67136BB15D6E}" type="presOf" srcId="{04B50124-1747-4204-A850-37EAA13DC579}" destId="{B3A8651B-9642-41A0-8898-975DFDFBAA5B}" srcOrd="0" destOrd="0" presId="urn:microsoft.com/office/officeart/2005/8/layout/vList2"/>
    <dgm:cxn modelId="{44AC5ED7-E1B5-4108-B795-CF1163602CA4}" srcId="{04B50124-1747-4204-A850-37EAA13DC579}" destId="{DEA88983-F590-485A-AB66-B225617EA6B8}" srcOrd="0" destOrd="0" parTransId="{04ABD58C-48C3-40ED-BAC5-C95F6D7DD23C}" sibTransId="{D2AFEB5F-C7F1-4D68-9527-49587D74C3A0}"/>
    <dgm:cxn modelId="{A65324F3-BE28-4695-A40D-3CF2C0180E77}" srcId="{04B50124-1747-4204-A850-37EAA13DC579}" destId="{F8888357-AB4B-4B94-8DF8-D8B6A5BE13E7}" srcOrd="1" destOrd="0" parTransId="{086304F4-7A47-4128-9EAE-6EB7415C7C3B}" sibTransId="{E3C72FFC-AEE3-42DF-8CBE-E3D62DB0EC09}"/>
    <dgm:cxn modelId="{8E1B19FB-2B8A-41DE-A062-587AE8C66C79}" type="presOf" srcId="{DEA88983-F590-485A-AB66-B225617EA6B8}" destId="{9429C4DD-947B-4FBB-94F6-6F0A6B8A8859}" srcOrd="0" destOrd="0" presId="urn:microsoft.com/office/officeart/2005/8/layout/vList2"/>
    <dgm:cxn modelId="{C5286C94-986C-4865-8846-34432A274392}" type="presParOf" srcId="{B3A8651B-9642-41A0-8898-975DFDFBAA5B}" destId="{9429C4DD-947B-4FBB-94F6-6F0A6B8A8859}" srcOrd="0" destOrd="0" presId="urn:microsoft.com/office/officeart/2005/8/layout/vList2"/>
    <dgm:cxn modelId="{20FAF2DD-370F-44A4-B2A5-DD92DAC59A08}" type="presParOf" srcId="{B3A8651B-9642-41A0-8898-975DFDFBAA5B}" destId="{47C35731-FBCE-49FA-B117-F5B9F080AAC3}" srcOrd="1" destOrd="0" presId="urn:microsoft.com/office/officeart/2005/8/layout/vList2"/>
    <dgm:cxn modelId="{4E48DA7A-3500-41ED-BA44-AA17B7B0F585}" type="presParOf" srcId="{B3A8651B-9642-41A0-8898-975DFDFBAA5B}" destId="{D71DA6D3-B1D5-4D64-9440-1AA88AB411F8}" srcOrd="2" destOrd="0" presId="urn:microsoft.com/office/officeart/2005/8/layout/vList2"/>
    <dgm:cxn modelId="{06AF640D-24DE-4158-871E-37B5F3AC8873}" type="presParOf" srcId="{B3A8651B-9642-41A0-8898-975DFDFBAA5B}" destId="{8E9B32C9-60D7-4329-A566-05ADD634E9C5}" srcOrd="3" destOrd="0" presId="urn:microsoft.com/office/officeart/2005/8/layout/vList2"/>
    <dgm:cxn modelId="{5CBB6DDA-122F-4AD9-9C9E-4692F4E85909}" type="presParOf" srcId="{B3A8651B-9642-41A0-8898-975DFDFBAA5B}" destId="{0A22D7D5-FBCF-41AE-ABA2-8F01E76933AA}" srcOrd="4" destOrd="0" presId="urn:microsoft.com/office/officeart/2005/8/layout/vList2"/>
    <dgm:cxn modelId="{0E44C9F6-05AF-4AE9-B809-2A5FB1100DAC}" type="presParOf" srcId="{B3A8651B-9642-41A0-8898-975DFDFBAA5B}" destId="{57132B99-3998-4D70-B64F-A814FAF3686A}" srcOrd="5" destOrd="0" presId="urn:microsoft.com/office/officeart/2005/8/layout/vList2"/>
    <dgm:cxn modelId="{34EAE0BF-E986-4070-B9F6-079384F2926A}" type="presParOf" srcId="{B3A8651B-9642-41A0-8898-975DFDFBAA5B}" destId="{A144E823-7212-4896-894A-1704E78934A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C866A85-7A1C-46A6-A6D1-9072BB1F612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ru-RU"/>
        </a:p>
      </dgm:t>
    </dgm:pt>
    <dgm:pt modelId="{B93C6133-CC6D-4761-8ADD-6AE8FF0D886F}">
      <dgm:prSet/>
      <dgm:spPr/>
      <dgm:t>
        <a:bodyPr/>
        <a:lstStyle/>
        <a:p>
          <a:r>
            <a:rPr lang="ru-RU"/>
            <a:t>После открытия точки на ул. Чертановской произошла каннибализация точки на Симферопольском б-ре</a:t>
          </a:r>
        </a:p>
      </dgm:t>
    </dgm:pt>
    <dgm:pt modelId="{432D8D02-04AF-4B5B-B3A4-772BD59D29EA}" type="parTrans" cxnId="{6804E9B7-94E2-46B5-91FF-9E9A291BA325}">
      <dgm:prSet/>
      <dgm:spPr/>
      <dgm:t>
        <a:bodyPr/>
        <a:lstStyle/>
        <a:p>
          <a:endParaRPr lang="ru-RU"/>
        </a:p>
      </dgm:t>
    </dgm:pt>
    <dgm:pt modelId="{BA3DD61A-4736-4E5C-ADCC-1A57E700DE81}" type="sibTrans" cxnId="{6804E9B7-94E2-46B5-91FF-9E9A291BA325}">
      <dgm:prSet/>
      <dgm:spPr/>
      <dgm:t>
        <a:bodyPr/>
        <a:lstStyle/>
        <a:p>
          <a:endParaRPr lang="ru-RU"/>
        </a:p>
      </dgm:t>
    </dgm:pt>
    <dgm:pt modelId="{C0D94C2E-8943-4097-94E2-0A6A86DA6A98}" type="pres">
      <dgm:prSet presAssocID="{0C866A85-7A1C-46A6-A6D1-9072BB1F612B}" presName="linear" presStyleCnt="0">
        <dgm:presLayoutVars>
          <dgm:animLvl val="lvl"/>
          <dgm:resizeHandles val="exact"/>
        </dgm:presLayoutVars>
      </dgm:prSet>
      <dgm:spPr/>
    </dgm:pt>
    <dgm:pt modelId="{3B17491C-1366-4C5C-B815-EED2CBE76838}" type="pres">
      <dgm:prSet presAssocID="{B93C6133-CC6D-4761-8ADD-6AE8FF0D886F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669E7017-652E-4151-9CD6-CFD47A9E6C80}" type="presOf" srcId="{B93C6133-CC6D-4761-8ADD-6AE8FF0D886F}" destId="{3B17491C-1366-4C5C-B815-EED2CBE76838}" srcOrd="0" destOrd="0" presId="urn:microsoft.com/office/officeart/2005/8/layout/vList2"/>
    <dgm:cxn modelId="{6804E9B7-94E2-46B5-91FF-9E9A291BA325}" srcId="{0C866A85-7A1C-46A6-A6D1-9072BB1F612B}" destId="{B93C6133-CC6D-4761-8ADD-6AE8FF0D886F}" srcOrd="0" destOrd="0" parTransId="{432D8D02-04AF-4B5B-B3A4-772BD59D29EA}" sibTransId="{BA3DD61A-4736-4E5C-ADCC-1A57E700DE81}"/>
    <dgm:cxn modelId="{2BF533DC-9F90-4717-B088-25AC9D900F9B}" type="presOf" srcId="{0C866A85-7A1C-46A6-A6D1-9072BB1F612B}" destId="{C0D94C2E-8943-4097-94E2-0A6A86DA6A98}" srcOrd="0" destOrd="0" presId="urn:microsoft.com/office/officeart/2005/8/layout/vList2"/>
    <dgm:cxn modelId="{8EA64E9B-2A58-4B9B-9BC7-98B5C4E34A78}" type="presParOf" srcId="{C0D94C2E-8943-4097-94E2-0A6A86DA6A98}" destId="{3B17491C-1366-4C5C-B815-EED2CBE7683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EB4A9CF-A9C1-4578-B69F-6C5EF11E170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ru-RU"/>
        </a:p>
      </dgm:t>
    </dgm:pt>
    <dgm:pt modelId="{EF9D8BE2-9283-43E2-B448-0A855FE64380}">
      <dgm:prSet/>
      <dgm:spPr/>
      <dgm:t>
        <a:bodyPr/>
        <a:lstStyle/>
        <a:p>
          <a:r>
            <a:rPr lang="ru-RU"/>
            <a:t>Перенос точки </a:t>
          </a:r>
          <a:r>
            <a:rPr lang="ru-RU" baseline="0"/>
            <a:t>Ракетный б-р, 14к1 </a:t>
          </a:r>
          <a:r>
            <a:rPr lang="ru-RU"/>
            <a:t> с 3-его на 1-ый сервер позволит снизить загруженность 3-его сервера, что позволит проводить операции быстрее</a:t>
          </a:r>
        </a:p>
      </dgm:t>
    </dgm:pt>
    <dgm:pt modelId="{692EC604-3323-4260-86E0-C1A6C027944E}" type="parTrans" cxnId="{06248167-84FE-4D11-939B-51E76547BF39}">
      <dgm:prSet/>
      <dgm:spPr/>
      <dgm:t>
        <a:bodyPr/>
        <a:lstStyle/>
        <a:p>
          <a:endParaRPr lang="ru-RU"/>
        </a:p>
      </dgm:t>
    </dgm:pt>
    <dgm:pt modelId="{EED03215-FD3D-4787-8BC6-34ABA243BB4C}" type="sibTrans" cxnId="{06248167-84FE-4D11-939B-51E76547BF39}">
      <dgm:prSet/>
      <dgm:spPr/>
      <dgm:t>
        <a:bodyPr/>
        <a:lstStyle/>
        <a:p>
          <a:endParaRPr lang="ru-RU"/>
        </a:p>
      </dgm:t>
    </dgm:pt>
    <dgm:pt modelId="{4251E583-42DB-4CF1-8072-7DC9F11EF7C4}" type="pres">
      <dgm:prSet presAssocID="{BEB4A9CF-A9C1-4578-B69F-6C5EF11E170A}" presName="linear" presStyleCnt="0">
        <dgm:presLayoutVars>
          <dgm:animLvl val="lvl"/>
          <dgm:resizeHandles val="exact"/>
        </dgm:presLayoutVars>
      </dgm:prSet>
      <dgm:spPr/>
    </dgm:pt>
    <dgm:pt modelId="{8A18AE39-8275-4890-A81A-CCC68BA91627}" type="pres">
      <dgm:prSet presAssocID="{EF9D8BE2-9283-43E2-B448-0A855FE64380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A9BB8628-66DF-4032-9FBC-BC88CBF4CD42}" type="presOf" srcId="{EF9D8BE2-9283-43E2-B448-0A855FE64380}" destId="{8A18AE39-8275-4890-A81A-CCC68BA91627}" srcOrd="0" destOrd="0" presId="urn:microsoft.com/office/officeart/2005/8/layout/vList2"/>
    <dgm:cxn modelId="{21238166-C693-4D05-900B-DC364B4E33C8}" type="presOf" srcId="{BEB4A9CF-A9C1-4578-B69F-6C5EF11E170A}" destId="{4251E583-42DB-4CF1-8072-7DC9F11EF7C4}" srcOrd="0" destOrd="0" presId="urn:microsoft.com/office/officeart/2005/8/layout/vList2"/>
    <dgm:cxn modelId="{06248167-84FE-4D11-939B-51E76547BF39}" srcId="{BEB4A9CF-A9C1-4578-B69F-6C5EF11E170A}" destId="{EF9D8BE2-9283-43E2-B448-0A855FE64380}" srcOrd="0" destOrd="0" parTransId="{692EC604-3323-4260-86E0-C1A6C027944E}" sibTransId="{EED03215-FD3D-4787-8BC6-34ABA243BB4C}"/>
    <dgm:cxn modelId="{B85085FD-1A2F-41E9-BECA-BA10E06567E2}" type="presParOf" srcId="{4251E583-42DB-4CF1-8072-7DC9F11EF7C4}" destId="{8A18AE39-8275-4890-A81A-CCC68BA91627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D27E6B7-95F1-42D8-8649-5237708D488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ru-RU"/>
        </a:p>
      </dgm:t>
    </dgm:pt>
    <dgm:pt modelId="{D67779CB-4DBD-4085-A1C1-6BF5B9D46908}">
      <dgm:prSet/>
      <dgm:spPr/>
      <dgm:t>
        <a:bodyPr/>
        <a:lstStyle/>
        <a:p>
          <a:r>
            <a:rPr lang="ru-RU"/>
            <a:t>ТТ по адресу ракетный б-р показывает значительный скачков длительности транзакций в районе 3-5 часов утра</a:t>
          </a:r>
        </a:p>
      </dgm:t>
    </dgm:pt>
    <dgm:pt modelId="{50225A3B-B337-4A9F-AD9A-86F4E77769F2}" type="parTrans" cxnId="{B689FD50-62E0-4560-8688-09D4ACA51013}">
      <dgm:prSet/>
      <dgm:spPr/>
      <dgm:t>
        <a:bodyPr/>
        <a:lstStyle/>
        <a:p>
          <a:endParaRPr lang="ru-RU"/>
        </a:p>
      </dgm:t>
    </dgm:pt>
    <dgm:pt modelId="{8094F211-25CB-46A0-A221-505A5181B514}" type="sibTrans" cxnId="{B689FD50-62E0-4560-8688-09D4ACA51013}">
      <dgm:prSet/>
      <dgm:spPr/>
      <dgm:t>
        <a:bodyPr/>
        <a:lstStyle/>
        <a:p>
          <a:endParaRPr lang="ru-RU"/>
        </a:p>
      </dgm:t>
    </dgm:pt>
    <dgm:pt modelId="{66B2B706-BE13-48B0-A50E-D72C517257C1}" type="pres">
      <dgm:prSet presAssocID="{AD27E6B7-95F1-42D8-8649-5237708D4887}" presName="linear" presStyleCnt="0">
        <dgm:presLayoutVars>
          <dgm:animLvl val="lvl"/>
          <dgm:resizeHandles val="exact"/>
        </dgm:presLayoutVars>
      </dgm:prSet>
      <dgm:spPr/>
    </dgm:pt>
    <dgm:pt modelId="{C3C88CA4-D4D3-44B3-8E3A-C8131DF5AE1A}" type="pres">
      <dgm:prSet presAssocID="{D67779CB-4DBD-4085-A1C1-6BF5B9D46908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C91E7C39-7D06-406C-BB87-BEAE6ECBD3D8}" type="presOf" srcId="{AD27E6B7-95F1-42D8-8649-5237708D4887}" destId="{66B2B706-BE13-48B0-A50E-D72C517257C1}" srcOrd="0" destOrd="0" presId="urn:microsoft.com/office/officeart/2005/8/layout/vList2"/>
    <dgm:cxn modelId="{B689FD50-62E0-4560-8688-09D4ACA51013}" srcId="{AD27E6B7-95F1-42D8-8649-5237708D4887}" destId="{D67779CB-4DBD-4085-A1C1-6BF5B9D46908}" srcOrd="0" destOrd="0" parTransId="{50225A3B-B337-4A9F-AD9A-86F4E77769F2}" sibTransId="{8094F211-25CB-46A0-A221-505A5181B514}"/>
    <dgm:cxn modelId="{A4A39AB1-A71B-46D1-9F9B-69CFA91C5257}" type="presOf" srcId="{D67779CB-4DBD-4085-A1C1-6BF5B9D46908}" destId="{C3C88CA4-D4D3-44B3-8E3A-C8131DF5AE1A}" srcOrd="0" destOrd="0" presId="urn:microsoft.com/office/officeart/2005/8/layout/vList2"/>
    <dgm:cxn modelId="{1E97C84C-0620-4C0D-8B39-52119735555C}" type="presParOf" srcId="{66B2B706-BE13-48B0-A50E-D72C517257C1}" destId="{C3C88CA4-D4D3-44B3-8E3A-C8131DF5AE1A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0144E9D-8795-4C02-9BE7-A967BFF0CA0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ru-RU"/>
        </a:p>
      </dgm:t>
    </dgm:pt>
    <dgm:pt modelId="{F199E8C5-A605-4C0F-9026-91C23CF33CAD}">
      <dgm:prSet/>
      <dgm:spPr/>
      <dgm:t>
        <a:bodyPr/>
        <a:lstStyle/>
        <a:p>
          <a:r>
            <a:rPr lang="ru-RU"/>
            <a:t>ТТ по адресу Ленинский пр-т и пр-т Вернадского показывают увеличение длительности транзакций в районе 11-15 часов дня</a:t>
          </a:r>
        </a:p>
      </dgm:t>
    </dgm:pt>
    <dgm:pt modelId="{73B36D9B-9181-49BD-975D-FE2360F6C67D}" type="parTrans" cxnId="{9E25FF7D-1F81-4D36-9BF3-36F71E5BC7C9}">
      <dgm:prSet/>
      <dgm:spPr/>
      <dgm:t>
        <a:bodyPr/>
        <a:lstStyle/>
        <a:p>
          <a:endParaRPr lang="ru-RU"/>
        </a:p>
      </dgm:t>
    </dgm:pt>
    <dgm:pt modelId="{2B895637-0B78-46B2-BBC6-5E8023F8D9C3}" type="sibTrans" cxnId="{9E25FF7D-1F81-4D36-9BF3-36F71E5BC7C9}">
      <dgm:prSet/>
      <dgm:spPr/>
      <dgm:t>
        <a:bodyPr/>
        <a:lstStyle/>
        <a:p>
          <a:endParaRPr lang="ru-RU"/>
        </a:p>
      </dgm:t>
    </dgm:pt>
    <dgm:pt modelId="{C7A53F0B-39EA-4BE7-840E-AA0A02C23D4B}" type="pres">
      <dgm:prSet presAssocID="{90144E9D-8795-4C02-9BE7-A967BFF0CA02}" presName="linear" presStyleCnt="0">
        <dgm:presLayoutVars>
          <dgm:animLvl val="lvl"/>
          <dgm:resizeHandles val="exact"/>
        </dgm:presLayoutVars>
      </dgm:prSet>
      <dgm:spPr/>
    </dgm:pt>
    <dgm:pt modelId="{1AA135CF-8418-4C40-8A42-0862AA7144A1}" type="pres">
      <dgm:prSet presAssocID="{F199E8C5-A605-4C0F-9026-91C23CF33CAD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2712C817-40B1-499C-8048-90E0B4F7A3FA}" type="presOf" srcId="{F199E8C5-A605-4C0F-9026-91C23CF33CAD}" destId="{1AA135CF-8418-4C40-8A42-0862AA7144A1}" srcOrd="0" destOrd="0" presId="urn:microsoft.com/office/officeart/2005/8/layout/vList2"/>
    <dgm:cxn modelId="{7E10C26E-1EDF-4A29-BE78-67C14D40B4D6}" type="presOf" srcId="{90144E9D-8795-4C02-9BE7-A967BFF0CA02}" destId="{C7A53F0B-39EA-4BE7-840E-AA0A02C23D4B}" srcOrd="0" destOrd="0" presId="urn:microsoft.com/office/officeart/2005/8/layout/vList2"/>
    <dgm:cxn modelId="{9E25FF7D-1F81-4D36-9BF3-36F71E5BC7C9}" srcId="{90144E9D-8795-4C02-9BE7-A967BFF0CA02}" destId="{F199E8C5-A605-4C0F-9026-91C23CF33CAD}" srcOrd="0" destOrd="0" parTransId="{73B36D9B-9181-49BD-975D-FE2360F6C67D}" sibTransId="{2B895637-0B78-46B2-BBC6-5E8023F8D9C3}"/>
    <dgm:cxn modelId="{764ED4F7-9D16-4CF0-A825-18DB13B228F9}" type="presParOf" srcId="{C7A53F0B-39EA-4BE7-840E-AA0A02C23D4B}" destId="{1AA135CF-8418-4C40-8A42-0862AA7144A1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1BF8FA5-1EF6-4260-827A-4A078AA0FF2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ru-RU"/>
        </a:p>
      </dgm:t>
    </dgm:pt>
    <dgm:pt modelId="{C7A0ECD1-5124-42B9-83AF-102E04B10CA8}">
      <dgm:prSet/>
      <dgm:spPr/>
      <dgm:t>
        <a:bodyPr/>
        <a:lstStyle/>
        <a:p>
          <a:r>
            <a:rPr lang="ru-RU"/>
            <a:t>ТТ по адресу Симферопольский б-р и ул. Чертановская в течение всего дня показывают большую загруженность</a:t>
          </a:r>
        </a:p>
      </dgm:t>
    </dgm:pt>
    <dgm:pt modelId="{CD5FB95E-F0E3-41B2-B460-32E4AA3EF5F8}" type="parTrans" cxnId="{AE94CE2A-A701-4B83-B078-2649AD35F7E2}">
      <dgm:prSet/>
      <dgm:spPr/>
      <dgm:t>
        <a:bodyPr/>
        <a:lstStyle/>
        <a:p>
          <a:endParaRPr lang="ru-RU"/>
        </a:p>
      </dgm:t>
    </dgm:pt>
    <dgm:pt modelId="{4B7B60A5-0788-4755-859B-3259DA6F1D1E}" type="sibTrans" cxnId="{AE94CE2A-A701-4B83-B078-2649AD35F7E2}">
      <dgm:prSet/>
      <dgm:spPr/>
      <dgm:t>
        <a:bodyPr/>
        <a:lstStyle/>
        <a:p>
          <a:endParaRPr lang="ru-RU"/>
        </a:p>
      </dgm:t>
    </dgm:pt>
    <dgm:pt modelId="{4A0EB6E7-682A-4283-B07B-2B7A2A77BFAB}" type="pres">
      <dgm:prSet presAssocID="{11BF8FA5-1EF6-4260-827A-4A078AA0FF22}" presName="linear" presStyleCnt="0">
        <dgm:presLayoutVars>
          <dgm:animLvl val="lvl"/>
          <dgm:resizeHandles val="exact"/>
        </dgm:presLayoutVars>
      </dgm:prSet>
      <dgm:spPr/>
    </dgm:pt>
    <dgm:pt modelId="{C135826A-FA22-48D2-B058-9A7FAC491DD6}" type="pres">
      <dgm:prSet presAssocID="{C7A0ECD1-5124-42B9-83AF-102E04B10CA8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DC60F90B-EDF0-464D-B282-F0EAC830BA9B}" type="presOf" srcId="{11BF8FA5-1EF6-4260-827A-4A078AA0FF22}" destId="{4A0EB6E7-682A-4283-B07B-2B7A2A77BFAB}" srcOrd="0" destOrd="0" presId="urn:microsoft.com/office/officeart/2005/8/layout/vList2"/>
    <dgm:cxn modelId="{AE94CE2A-A701-4B83-B078-2649AD35F7E2}" srcId="{11BF8FA5-1EF6-4260-827A-4A078AA0FF22}" destId="{C7A0ECD1-5124-42B9-83AF-102E04B10CA8}" srcOrd="0" destOrd="0" parTransId="{CD5FB95E-F0E3-41B2-B460-32E4AA3EF5F8}" sibTransId="{4B7B60A5-0788-4755-859B-3259DA6F1D1E}"/>
    <dgm:cxn modelId="{CEDDF950-A8ED-4048-B188-708631B4B776}" type="presOf" srcId="{C7A0ECD1-5124-42B9-83AF-102E04B10CA8}" destId="{C135826A-FA22-48D2-B058-9A7FAC491DD6}" srcOrd="0" destOrd="0" presId="urn:microsoft.com/office/officeart/2005/8/layout/vList2"/>
    <dgm:cxn modelId="{4CCE8500-3CF2-4E86-B626-E026D18AEEE7}" type="presParOf" srcId="{4A0EB6E7-682A-4283-B07B-2B7A2A77BFAB}" destId="{C135826A-FA22-48D2-B058-9A7FAC491DD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8A0D163-0398-4D83-B879-8BA15E3F023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A7AD0595-971B-430D-B807-C95C29B514A1}">
      <dgm:prSet/>
      <dgm:spPr/>
      <dgm:t>
        <a:bodyPr/>
        <a:lstStyle/>
        <a:p>
          <a:r>
            <a:rPr lang="ru-RU" dirty="0"/>
            <a:t>ТТ по адресу Ленинский пр-т показывает увеличение количества транзакций до 15 часов в связи с проводимой акцией</a:t>
          </a:r>
        </a:p>
      </dgm:t>
    </dgm:pt>
    <dgm:pt modelId="{6E6BD9E2-2F9E-4D88-9EA0-79830DBB2A92}" type="parTrans" cxnId="{836BA3D9-D74A-4FBD-9DCC-FDA3453DCFA9}">
      <dgm:prSet/>
      <dgm:spPr/>
      <dgm:t>
        <a:bodyPr/>
        <a:lstStyle/>
        <a:p>
          <a:endParaRPr lang="ru-RU"/>
        </a:p>
      </dgm:t>
    </dgm:pt>
    <dgm:pt modelId="{F4A92580-5605-4858-B318-AFF37EE429F5}" type="sibTrans" cxnId="{836BA3D9-D74A-4FBD-9DCC-FDA3453DCFA9}">
      <dgm:prSet/>
      <dgm:spPr/>
      <dgm:t>
        <a:bodyPr/>
        <a:lstStyle/>
        <a:p>
          <a:endParaRPr lang="ru-RU"/>
        </a:p>
      </dgm:t>
    </dgm:pt>
    <dgm:pt modelId="{92B133B8-9C89-433C-8DBD-74ED48315E34}" type="pres">
      <dgm:prSet presAssocID="{18A0D163-0398-4D83-B879-8BA15E3F023F}" presName="linear" presStyleCnt="0">
        <dgm:presLayoutVars>
          <dgm:animLvl val="lvl"/>
          <dgm:resizeHandles val="exact"/>
        </dgm:presLayoutVars>
      </dgm:prSet>
      <dgm:spPr/>
    </dgm:pt>
    <dgm:pt modelId="{39230C96-4BF5-43AC-A8E2-0358BF2981B9}" type="pres">
      <dgm:prSet presAssocID="{A7AD0595-971B-430D-B807-C95C29B514A1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5440DBC0-9275-4BF4-B6F2-360265C38A2F}" type="presOf" srcId="{18A0D163-0398-4D83-B879-8BA15E3F023F}" destId="{92B133B8-9C89-433C-8DBD-74ED48315E34}" srcOrd="0" destOrd="0" presId="urn:microsoft.com/office/officeart/2005/8/layout/vList2"/>
    <dgm:cxn modelId="{836BA3D9-D74A-4FBD-9DCC-FDA3453DCFA9}" srcId="{18A0D163-0398-4D83-B879-8BA15E3F023F}" destId="{A7AD0595-971B-430D-B807-C95C29B514A1}" srcOrd="0" destOrd="0" parTransId="{6E6BD9E2-2F9E-4D88-9EA0-79830DBB2A92}" sibTransId="{F4A92580-5605-4858-B318-AFF37EE429F5}"/>
    <dgm:cxn modelId="{771A16FB-8114-4E1F-8F7B-C913EC2D2F45}" type="presOf" srcId="{A7AD0595-971B-430D-B807-C95C29B514A1}" destId="{39230C96-4BF5-43AC-A8E2-0358BF2981B9}" srcOrd="0" destOrd="0" presId="urn:microsoft.com/office/officeart/2005/8/layout/vList2"/>
    <dgm:cxn modelId="{8392D0CF-D546-444B-A756-5624A8271C00}" type="presParOf" srcId="{92B133B8-9C89-433C-8DBD-74ED48315E34}" destId="{39230C96-4BF5-43AC-A8E2-0358BF2981B9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D1AED68-67C0-428C-B191-F47DD1838BB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ru-RU"/>
        </a:p>
      </dgm:t>
    </dgm:pt>
    <dgm:pt modelId="{06777542-1887-4B2E-BFC6-29540BCF7FEA}">
      <dgm:prSet/>
      <dgm:spPr/>
      <dgm:t>
        <a:bodyPr/>
        <a:lstStyle/>
        <a:p>
          <a:r>
            <a:rPr lang="ru-RU" dirty="0"/>
            <a:t>В следствие проблем с подключением к сети Интернет до 6 утра в Солнцевском районе Москвы произошло увеличение средней длительности транзакции на сервере №1</a:t>
          </a:r>
        </a:p>
      </dgm:t>
    </dgm:pt>
    <dgm:pt modelId="{6A7DA671-AE3F-4A8E-84E7-58F2C586649A}" type="parTrans" cxnId="{AAED23B2-EE51-4155-81A8-2DE389B06DBB}">
      <dgm:prSet/>
      <dgm:spPr/>
      <dgm:t>
        <a:bodyPr/>
        <a:lstStyle/>
        <a:p>
          <a:endParaRPr lang="ru-RU"/>
        </a:p>
      </dgm:t>
    </dgm:pt>
    <dgm:pt modelId="{08779BE0-584D-4A39-A5CA-E40C1BA642AC}" type="sibTrans" cxnId="{AAED23B2-EE51-4155-81A8-2DE389B06DBB}">
      <dgm:prSet/>
      <dgm:spPr/>
      <dgm:t>
        <a:bodyPr/>
        <a:lstStyle/>
        <a:p>
          <a:endParaRPr lang="ru-RU"/>
        </a:p>
      </dgm:t>
    </dgm:pt>
    <dgm:pt modelId="{48ADA623-FE85-41FC-98AC-397A87749FCD}" type="pres">
      <dgm:prSet presAssocID="{5D1AED68-67C0-428C-B191-F47DD1838BBC}" presName="linear" presStyleCnt="0">
        <dgm:presLayoutVars>
          <dgm:animLvl val="lvl"/>
          <dgm:resizeHandles val="exact"/>
        </dgm:presLayoutVars>
      </dgm:prSet>
      <dgm:spPr/>
    </dgm:pt>
    <dgm:pt modelId="{B8D671B1-CAA9-4B39-BF65-E3549801D701}" type="pres">
      <dgm:prSet presAssocID="{06777542-1887-4B2E-BFC6-29540BCF7FEA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EF889654-76E0-4901-AEA3-692C8D0D28FE}" type="presOf" srcId="{06777542-1887-4B2E-BFC6-29540BCF7FEA}" destId="{B8D671B1-CAA9-4B39-BF65-E3549801D701}" srcOrd="0" destOrd="0" presId="urn:microsoft.com/office/officeart/2005/8/layout/vList2"/>
    <dgm:cxn modelId="{5D4837B1-7276-464A-8EA4-5A66D20BB59E}" type="presOf" srcId="{5D1AED68-67C0-428C-B191-F47DD1838BBC}" destId="{48ADA623-FE85-41FC-98AC-397A87749FCD}" srcOrd="0" destOrd="0" presId="urn:microsoft.com/office/officeart/2005/8/layout/vList2"/>
    <dgm:cxn modelId="{AAED23B2-EE51-4155-81A8-2DE389B06DBB}" srcId="{5D1AED68-67C0-428C-B191-F47DD1838BBC}" destId="{06777542-1887-4B2E-BFC6-29540BCF7FEA}" srcOrd="0" destOrd="0" parTransId="{6A7DA671-AE3F-4A8E-84E7-58F2C586649A}" sibTransId="{08779BE0-584D-4A39-A5CA-E40C1BA642AC}"/>
    <dgm:cxn modelId="{C565822D-ECFB-4252-AAEC-2B1D526D2008}" type="presParOf" srcId="{48ADA623-FE85-41FC-98AC-397A87749FCD}" destId="{B8D671B1-CAA9-4B39-BF65-E3549801D701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D051575C-A16F-4B16-BFD5-4C039F2058C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ru-RU"/>
        </a:p>
      </dgm:t>
    </dgm:pt>
    <dgm:pt modelId="{8AAAC802-5609-421C-AE7A-CEB3791BC48F}">
      <dgm:prSet/>
      <dgm:spPr/>
      <dgm:t>
        <a:bodyPr/>
        <a:lstStyle/>
        <a:p>
          <a:r>
            <a:rPr lang="ru-RU" dirty="0"/>
            <a:t>В результате проводимой акции загруженность сервера №2 выросла в период с 11 до 15 часов</a:t>
          </a:r>
        </a:p>
      </dgm:t>
    </dgm:pt>
    <dgm:pt modelId="{61698133-C297-4DB5-8F2C-9EB3E8F6FD6A}" type="parTrans" cxnId="{4FC17A71-52E3-4D5D-82B6-FDD3BD06FC22}">
      <dgm:prSet/>
      <dgm:spPr/>
      <dgm:t>
        <a:bodyPr/>
        <a:lstStyle/>
        <a:p>
          <a:endParaRPr lang="ru-RU"/>
        </a:p>
      </dgm:t>
    </dgm:pt>
    <dgm:pt modelId="{F266604E-9A38-4EF0-B758-BAE611C41DDF}" type="sibTrans" cxnId="{4FC17A71-52E3-4D5D-82B6-FDD3BD06FC22}">
      <dgm:prSet/>
      <dgm:spPr/>
      <dgm:t>
        <a:bodyPr/>
        <a:lstStyle/>
        <a:p>
          <a:endParaRPr lang="ru-RU"/>
        </a:p>
      </dgm:t>
    </dgm:pt>
    <dgm:pt modelId="{94D70653-F99B-4B62-B28F-5D73254EFEB3}" type="pres">
      <dgm:prSet presAssocID="{D051575C-A16F-4B16-BFD5-4C039F2058CC}" presName="linear" presStyleCnt="0">
        <dgm:presLayoutVars>
          <dgm:animLvl val="lvl"/>
          <dgm:resizeHandles val="exact"/>
        </dgm:presLayoutVars>
      </dgm:prSet>
      <dgm:spPr/>
    </dgm:pt>
    <dgm:pt modelId="{AEEB4AF0-A6DA-40A8-8C4B-9A6608AE488F}" type="pres">
      <dgm:prSet presAssocID="{8AAAC802-5609-421C-AE7A-CEB3791BC48F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1D01A500-3779-47F5-B5C5-5359C4ADFD8F}" type="presOf" srcId="{8AAAC802-5609-421C-AE7A-CEB3791BC48F}" destId="{AEEB4AF0-A6DA-40A8-8C4B-9A6608AE488F}" srcOrd="0" destOrd="0" presId="urn:microsoft.com/office/officeart/2005/8/layout/vList2"/>
    <dgm:cxn modelId="{4FC17A71-52E3-4D5D-82B6-FDD3BD06FC22}" srcId="{D051575C-A16F-4B16-BFD5-4C039F2058CC}" destId="{8AAAC802-5609-421C-AE7A-CEB3791BC48F}" srcOrd="0" destOrd="0" parTransId="{61698133-C297-4DB5-8F2C-9EB3E8F6FD6A}" sibTransId="{F266604E-9A38-4EF0-B758-BAE611C41DDF}"/>
    <dgm:cxn modelId="{34EA109A-7982-48B6-BBC1-772EE1A52AE2}" type="presOf" srcId="{D051575C-A16F-4B16-BFD5-4C039F2058CC}" destId="{94D70653-F99B-4B62-B28F-5D73254EFEB3}" srcOrd="0" destOrd="0" presId="urn:microsoft.com/office/officeart/2005/8/layout/vList2"/>
    <dgm:cxn modelId="{0ED61DFC-7964-4A53-8672-A0AF80ADBDA4}" type="presParOf" srcId="{94D70653-F99B-4B62-B28F-5D73254EFEB3}" destId="{AEEB4AF0-A6DA-40A8-8C4B-9A6608AE488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E878915E-DF5F-4221-8CBA-0ACE425342D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ru-RU"/>
        </a:p>
      </dgm:t>
    </dgm:pt>
    <dgm:pt modelId="{0C5A60B5-B2FA-49B0-BE2E-100D2E127067}">
      <dgm:prSet/>
      <dgm:spPr/>
      <dgm:t>
        <a:bodyPr/>
        <a:lstStyle/>
        <a:p>
          <a:r>
            <a:rPr lang="ru-RU"/>
            <a:t>Средняя длительность транзакций по всем платёжным системам увеличивается с 11 до 15 часов в следствие увеличения числа пользователей</a:t>
          </a:r>
        </a:p>
      </dgm:t>
    </dgm:pt>
    <dgm:pt modelId="{2E141DBA-D002-42D4-92F5-493C1C6B6555}" type="parTrans" cxnId="{EB9CA198-CBE4-400C-96F5-A8E0E145106C}">
      <dgm:prSet/>
      <dgm:spPr/>
      <dgm:t>
        <a:bodyPr/>
        <a:lstStyle/>
        <a:p>
          <a:endParaRPr lang="ru-RU"/>
        </a:p>
      </dgm:t>
    </dgm:pt>
    <dgm:pt modelId="{D744F3B6-0C10-46ED-BEDB-25BBFFC2AB27}" type="sibTrans" cxnId="{EB9CA198-CBE4-400C-96F5-A8E0E145106C}">
      <dgm:prSet/>
      <dgm:spPr/>
      <dgm:t>
        <a:bodyPr/>
        <a:lstStyle/>
        <a:p>
          <a:endParaRPr lang="ru-RU"/>
        </a:p>
      </dgm:t>
    </dgm:pt>
    <dgm:pt modelId="{AE2E154D-FE09-4E12-A0A3-F8FAAC0CB1EF}" type="pres">
      <dgm:prSet presAssocID="{E878915E-DF5F-4221-8CBA-0ACE425342D7}" presName="linear" presStyleCnt="0">
        <dgm:presLayoutVars>
          <dgm:animLvl val="lvl"/>
          <dgm:resizeHandles val="exact"/>
        </dgm:presLayoutVars>
      </dgm:prSet>
      <dgm:spPr/>
    </dgm:pt>
    <dgm:pt modelId="{E672E528-F8E8-4523-83B3-90A5C99D497F}" type="pres">
      <dgm:prSet presAssocID="{0C5A60B5-B2FA-49B0-BE2E-100D2E127067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324F677C-9623-4F84-92DD-68285E87F13B}" type="presOf" srcId="{0C5A60B5-B2FA-49B0-BE2E-100D2E127067}" destId="{E672E528-F8E8-4523-83B3-90A5C99D497F}" srcOrd="0" destOrd="0" presId="urn:microsoft.com/office/officeart/2005/8/layout/vList2"/>
    <dgm:cxn modelId="{DC38F992-7EA5-496C-9251-6410CC96374B}" type="presOf" srcId="{E878915E-DF5F-4221-8CBA-0ACE425342D7}" destId="{AE2E154D-FE09-4E12-A0A3-F8FAAC0CB1EF}" srcOrd="0" destOrd="0" presId="urn:microsoft.com/office/officeart/2005/8/layout/vList2"/>
    <dgm:cxn modelId="{EB9CA198-CBE4-400C-96F5-A8E0E145106C}" srcId="{E878915E-DF5F-4221-8CBA-0ACE425342D7}" destId="{0C5A60B5-B2FA-49B0-BE2E-100D2E127067}" srcOrd="0" destOrd="0" parTransId="{2E141DBA-D002-42D4-92F5-493C1C6B6555}" sibTransId="{D744F3B6-0C10-46ED-BEDB-25BBFFC2AB27}"/>
    <dgm:cxn modelId="{8E467881-6463-484F-ABD5-9C53BDD4EE77}" type="presParOf" srcId="{AE2E154D-FE09-4E12-A0A3-F8FAAC0CB1EF}" destId="{E672E528-F8E8-4523-83B3-90A5C99D497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8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700748A1-84C3-44C6-9233-54D5CC898DEA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ru-RU"/>
        </a:p>
      </dgm:t>
    </dgm:pt>
    <dgm:pt modelId="{C91A7FE2-AC45-4E6B-81D0-B9B52C5EE6CE}">
      <dgm:prSet/>
      <dgm:spPr/>
      <dgm:t>
        <a:bodyPr/>
        <a:lstStyle/>
        <a:p>
          <a:r>
            <a:rPr lang="ru-RU"/>
            <a:t>Для предотвращения проблем в будущем необходимо: </a:t>
          </a:r>
        </a:p>
      </dgm:t>
    </dgm:pt>
    <dgm:pt modelId="{06199F46-3242-40CC-9F24-4352888D108D}" type="parTrans" cxnId="{7CD62FDE-B17C-4619-94A0-BC68F100D420}">
      <dgm:prSet/>
      <dgm:spPr/>
      <dgm:t>
        <a:bodyPr/>
        <a:lstStyle/>
        <a:p>
          <a:endParaRPr lang="ru-RU"/>
        </a:p>
      </dgm:t>
    </dgm:pt>
    <dgm:pt modelId="{7503F8FD-636E-4699-AA83-8B5C367F0003}" type="sibTrans" cxnId="{7CD62FDE-B17C-4619-94A0-BC68F100D420}">
      <dgm:prSet/>
      <dgm:spPr/>
      <dgm:t>
        <a:bodyPr/>
        <a:lstStyle/>
        <a:p>
          <a:endParaRPr lang="ru-RU"/>
        </a:p>
      </dgm:t>
    </dgm:pt>
    <dgm:pt modelId="{77C4E2D6-67A5-471D-B415-7CC7DB702A2B}">
      <dgm:prSet/>
      <dgm:spPr/>
      <dgm:t>
        <a:bodyPr/>
        <a:lstStyle/>
        <a:p>
          <a:r>
            <a:rPr lang="ru-RU"/>
            <a:t>Увеличение количества касс по адресу Ленинский пр-т; </a:t>
          </a:r>
        </a:p>
      </dgm:t>
    </dgm:pt>
    <dgm:pt modelId="{66884235-A428-4DF1-8296-F46C316ACF16}" type="parTrans" cxnId="{D6846A4C-C9A5-4DF1-9ADB-DAE71D4D3116}">
      <dgm:prSet/>
      <dgm:spPr/>
      <dgm:t>
        <a:bodyPr/>
        <a:lstStyle/>
        <a:p>
          <a:endParaRPr lang="ru-RU"/>
        </a:p>
      </dgm:t>
    </dgm:pt>
    <dgm:pt modelId="{4E499BB9-FC23-40D5-8A34-A88C538776A2}" type="sibTrans" cxnId="{D6846A4C-C9A5-4DF1-9ADB-DAE71D4D3116}">
      <dgm:prSet/>
      <dgm:spPr/>
      <dgm:t>
        <a:bodyPr/>
        <a:lstStyle/>
        <a:p>
          <a:endParaRPr lang="ru-RU"/>
        </a:p>
      </dgm:t>
    </dgm:pt>
    <dgm:pt modelId="{ACDBD952-8815-4638-A7E3-BDF4C654927C}">
      <dgm:prSet/>
      <dgm:spPr/>
      <dgm:t>
        <a:bodyPr/>
        <a:lstStyle/>
        <a:p>
          <a:r>
            <a:rPr lang="ru-RU"/>
            <a:t>Снизить загруженность сервера №1(например, увеличив нагрузку на сервер №2);  </a:t>
          </a:r>
        </a:p>
      </dgm:t>
    </dgm:pt>
    <dgm:pt modelId="{604BA919-BF1D-40D1-809D-A2222DD7F69C}" type="parTrans" cxnId="{3FE5F892-658A-4445-BF1B-A25E683CC5C5}">
      <dgm:prSet/>
      <dgm:spPr/>
      <dgm:t>
        <a:bodyPr/>
        <a:lstStyle/>
        <a:p>
          <a:endParaRPr lang="ru-RU"/>
        </a:p>
      </dgm:t>
    </dgm:pt>
    <dgm:pt modelId="{1015AF33-D063-42FD-90B8-244259333831}" type="sibTrans" cxnId="{3FE5F892-658A-4445-BF1B-A25E683CC5C5}">
      <dgm:prSet/>
      <dgm:spPr/>
      <dgm:t>
        <a:bodyPr/>
        <a:lstStyle/>
        <a:p>
          <a:endParaRPr lang="ru-RU"/>
        </a:p>
      </dgm:t>
    </dgm:pt>
    <dgm:pt modelId="{2FB31477-C0C0-4ECD-8E95-9B52D3CD0AC2}">
      <dgm:prSet/>
      <dgm:spPr/>
      <dgm:t>
        <a:bodyPr/>
        <a:lstStyle/>
        <a:p>
          <a:r>
            <a:rPr lang="ru-RU"/>
            <a:t>Увеличить время акции до полного дня, чтобы снизить общую загруженность </a:t>
          </a:r>
        </a:p>
      </dgm:t>
    </dgm:pt>
    <dgm:pt modelId="{FC410419-EC81-4D37-8843-FAA69683ADB3}" type="parTrans" cxnId="{B673FFD3-924B-4C95-825D-06E76B49D362}">
      <dgm:prSet/>
      <dgm:spPr/>
      <dgm:t>
        <a:bodyPr/>
        <a:lstStyle/>
        <a:p>
          <a:endParaRPr lang="ru-RU"/>
        </a:p>
      </dgm:t>
    </dgm:pt>
    <dgm:pt modelId="{77B7AE4D-0028-4DF0-827E-4716B1900537}" type="sibTrans" cxnId="{B673FFD3-924B-4C95-825D-06E76B49D362}">
      <dgm:prSet/>
      <dgm:spPr/>
      <dgm:t>
        <a:bodyPr/>
        <a:lstStyle/>
        <a:p>
          <a:endParaRPr lang="ru-RU"/>
        </a:p>
      </dgm:t>
    </dgm:pt>
    <dgm:pt modelId="{BDFD585E-B63F-4E65-80EE-0B6C83FDC758}" type="pres">
      <dgm:prSet presAssocID="{700748A1-84C3-44C6-9233-54D5CC898DEA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CD447C9-5399-4DBA-B4F3-4EBBBFAF01B2}" type="pres">
      <dgm:prSet presAssocID="{C91A7FE2-AC45-4E6B-81D0-B9B52C5EE6CE}" presName="hierRoot1" presStyleCnt="0">
        <dgm:presLayoutVars>
          <dgm:hierBranch val="init"/>
        </dgm:presLayoutVars>
      </dgm:prSet>
      <dgm:spPr/>
    </dgm:pt>
    <dgm:pt modelId="{E4550B3E-5235-486B-B0CC-1B1341820D9E}" type="pres">
      <dgm:prSet presAssocID="{C91A7FE2-AC45-4E6B-81D0-B9B52C5EE6CE}" presName="rootComposite1" presStyleCnt="0"/>
      <dgm:spPr/>
    </dgm:pt>
    <dgm:pt modelId="{C4A63A12-2E49-4D86-A343-3EBA4D6B1275}" type="pres">
      <dgm:prSet presAssocID="{C91A7FE2-AC45-4E6B-81D0-B9B52C5EE6CE}" presName="rootText1" presStyleLbl="node0" presStyleIdx="0" presStyleCnt="1">
        <dgm:presLayoutVars>
          <dgm:chPref val="3"/>
        </dgm:presLayoutVars>
      </dgm:prSet>
      <dgm:spPr/>
    </dgm:pt>
    <dgm:pt modelId="{3BBE09C7-9B9D-4606-A5F5-96377C4B8B8E}" type="pres">
      <dgm:prSet presAssocID="{C91A7FE2-AC45-4E6B-81D0-B9B52C5EE6CE}" presName="rootConnector1" presStyleLbl="node1" presStyleIdx="0" presStyleCnt="0"/>
      <dgm:spPr/>
    </dgm:pt>
    <dgm:pt modelId="{BBA8EFD6-E3EA-4D47-9B52-246E3CED6542}" type="pres">
      <dgm:prSet presAssocID="{C91A7FE2-AC45-4E6B-81D0-B9B52C5EE6CE}" presName="hierChild2" presStyleCnt="0"/>
      <dgm:spPr/>
    </dgm:pt>
    <dgm:pt modelId="{DCB72162-4171-4558-9BD0-E630C9B58EF4}" type="pres">
      <dgm:prSet presAssocID="{66884235-A428-4DF1-8296-F46C316ACF16}" presName="Name37" presStyleLbl="parChTrans1D2" presStyleIdx="0" presStyleCnt="3"/>
      <dgm:spPr/>
    </dgm:pt>
    <dgm:pt modelId="{BBB16BA2-329D-4D9A-A5FB-2F940ECA879B}" type="pres">
      <dgm:prSet presAssocID="{77C4E2D6-67A5-471D-B415-7CC7DB702A2B}" presName="hierRoot2" presStyleCnt="0">
        <dgm:presLayoutVars>
          <dgm:hierBranch val="init"/>
        </dgm:presLayoutVars>
      </dgm:prSet>
      <dgm:spPr/>
    </dgm:pt>
    <dgm:pt modelId="{D41B3988-7410-496F-8A7E-DAC56C122E94}" type="pres">
      <dgm:prSet presAssocID="{77C4E2D6-67A5-471D-B415-7CC7DB702A2B}" presName="rootComposite" presStyleCnt="0"/>
      <dgm:spPr/>
    </dgm:pt>
    <dgm:pt modelId="{24BDA6E4-3CA0-4266-91DE-13A3191026AF}" type="pres">
      <dgm:prSet presAssocID="{77C4E2D6-67A5-471D-B415-7CC7DB702A2B}" presName="rootText" presStyleLbl="node2" presStyleIdx="0" presStyleCnt="3">
        <dgm:presLayoutVars>
          <dgm:chPref val="3"/>
        </dgm:presLayoutVars>
      </dgm:prSet>
      <dgm:spPr/>
    </dgm:pt>
    <dgm:pt modelId="{6302540A-CAFD-4649-A954-870B3D402829}" type="pres">
      <dgm:prSet presAssocID="{77C4E2D6-67A5-471D-B415-7CC7DB702A2B}" presName="rootConnector" presStyleLbl="node2" presStyleIdx="0" presStyleCnt="3"/>
      <dgm:spPr/>
    </dgm:pt>
    <dgm:pt modelId="{B779A39F-1B1D-4E66-A9B7-358197CB6F0A}" type="pres">
      <dgm:prSet presAssocID="{77C4E2D6-67A5-471D-B415-7CC7DB702A2B}" presName="hierChild4" presStyleCnt="0"/>
      <dgm:spPr/>
    </dgm:pt>
    <dgm:pt modelId="{830359E1-4F90-4784-9542-A776B7B074FB}" type="pres">
      <dgm:prSet presAssocID="{77C4E2D6-67A5-471D-B415-7CC7DB702A2B}" presName="hierChild5" presStyleCnt="0"/>
      <dgm:spPr/>
    </dgm:pt>
    <dgm:pt modelId="{0400935D-BE94-4EF9-BE61-4EF5CD2C0958}" type="pres">
      <dgm:prSet presAssocID="{604BA919-BF1D-40D1-809D-A2222DD7F69C}" presName="Name37" presStyleLbl="parChTrans1D2" presStyleIdx="1" presStyleCnt="3"/>
      <dgm:spPr/>
    </dgm:pt>
    <dgm:pt modelId="{80120461-09EB-4C9C-985E-F3BC8E56E0C6}" type="pres">
      <dgm:prSet presAssocID="{ACDBD952-8815-4638-A7E3-BDF4C654927C}" presName="hierRoot2" presStyleCnt="0">
        <dgm:presLayoutVars>
          <dgm:hierBranch val="init"/>
        </dgm:presLayoutVars>
      </dgm:prSet>
      <dgm:spPr/>
    </dgm:pt>
    <dgm:pt modelId="{1EFBDEA0-E280-46C0-AFD6-31A1BCB9D915}" type="pres">
      <dgm:prSet presAssocID="{ACDBD952-8815-4638-A7E3-BDF4C654927C}" presName="rootComposite" presStyleCnt="0"/>
      <dgm:spPr/>
    </dgm:pt>
    <dgm:pt modelId="{B6527DAB-D3EC-4311-93D9-6E13D1397FB1}" type="pres">
      <dgm:prSet presAssocID="{ACDBD952-8815-4638-A7E3-BDF4C654927C}" presName="rootText" presStyleLbl="node2" presStyleIdx="1" presStyleCnt="3">
        <dgm:presLayoutVars>
          <dgm:chPref val="3"/>
        </dgm:presLayoutVars>
      </dgm:prSet>
      <dgm:spPr/>
    </dgm:pt>
    <dgm:pt modelId="{5F013766-F682-4242-8C79-0D4A77189E49}" type="pres">
      <dgm:prSet presAssocID="{ACDBD952-8815-4638-A7E3-BDF4C654927C}" presName="rootConnector" presStyleLbl="node2" presStyleIdx="1" presStyleCnt="3"/>
      <dgm:spPr/>
    </dgm:pt>
    <dgm:pt modelId="{D83D2953-E65B-4742-B819-D5815A49790C}" type="pres">
      <dgm:prSet presAssocID="{ACDBD952-8815-4638-A7E3-BDF4C654927C}" presName="hierChild4" presStyleCnt="0"/>
      <dgm:spPr/>
    </dgm:pt>
    <dgm:pt modelId="{FF0672D1-DC7A-447C-BBE9-B9E08E5D9D0F}" type="pres">
      <dgm:prSet presAssocID="{ACDBD952-8815-4638-A7E3-BDF4C654927C}" presName="hierChild5" presStyleCnt="0"/>
      <dgm:spPr/>
    </dgm:pt>
    <dgm:pt modelId="{8A90806A-E205-482E-951D-9FEB29B2785C}" type="pres">
      <dgm:prSet presAssocID="{FC410419-EC81-4D37-8843-FAA69683ADB3}" presName="Name37" presStyleLbl="parChTrans1D2" presStyleIdx="2" presStyleCnt="3"/>
      <dgm:spPr/>
    </dgm:pt>
    <dgm:pt modelId="{9F664AFC-043E-485F-A723-7FF47B0A7D84}" type="pres">
      <dgm:prSet presAssocID="{2FB31477-C0C0-4ECD-8E95-9B52D3CD0AC2}" presName="hierRoot2" presStyleCnt="0">
        <dgm:presLayoutVars>
          <dgm:hierBranch val="init"/>
        </dgm:presLayoutVars>
      </dgm:prSet>
      <dgm:spPr/>
    </dgm:pt>
    <dgm:pt modelId="{956419C0-1A53-4E9E-9AD4-8482C6FFA47E}" type="pres">
      <dgm:prSet presAssocID="{2FB31477-C0C0-4ECD-8E95-9B52D3CD0AC2}" presName="rootComposite" presStyleCnt="0"/>
      <dgm:spPr/>
    </dgm:pt>
    <dgm:pt modelId="{0DBB209B-3B47-4BF3-9DEA-5D815673FD92}" type="pres">
      <dgm:prSet presAssocID="{2FB31477-C0C0-4ECD-8E95-9B52D3CD0AC2}" presName="rootText" presStyleLbl="node2" presStyleIdx="2" presStyleCnt="3">
        <dgm:presLayoutVars>
          <dgm:chPref val="3"/>
        </dgm:presLayoutVars>
      </dgm:prSet>
      <dgm:spPr/>
    </dgm:pt>
    <dgm:pt modelId="{E3345EAF-0FE7-41C5-9BF8-8F376DD5BB9A}" type="pres">
      <dgm:prSet presAssocID="{2FB31477-C0C0-4ECD-8E95-9B52D3CD0AC2}" presName="rootConnector" presStyleLbl="node2" presStyleIdx="2" presStyleCnt="3"/>
      <dgm:spPr/>
    </dgm:pt>
    <dgm:pt modelId="{5090D20A-B616-4428-872A-19C698D08EE3}" type="pres">
      <dgm:prSet presAssocID="{2FB31477-C0C0-4ECD-8E95-9B52D3CD0AC2}" presName="hierChild4" presStyleCnt="0"/>
      <dgm:spPr/>
    </dgm:pt>
    <dgm:pt modelId="{04C9208B-43C2-4279-894F-8CB88D4D0EBC}" type="pres">
      <dgm:prSet presAssocID="{2FB31477-C0C0-4ECD-8E95-9B52D3CD0AC2}" presName="hierChild5" presStyleCnt="0"/>
      <dgm:spPr/>
    </dgm:pt>
    <dgm:pt modelId="{B277F5A5-A3B9-4204-B637-F903F0AA3452}" type="pres">
      <dgm:prSet presAssocID="{C91A7FE2-AC45-4E6B-81D0-B9B52C5EE6CE}" presName="hierChild3" presStyleCnt="0"/>
      <dgm:spPr/>
    </dgm:pt>
  </dgm:ptLst>
  <dgm:cxnLst>
    <dgm:cxn modelId="{0C3B4D02-C1BA-4D44-B55D-BE5A84B93F1E}" type="presOf" srcId="{FC410419-EC81-4D37-8843-FAA69683ADB3}" destId="{8A90806A-E205-482E-951D-9FEB29B2785C}" srcOrd="0" destOrd="0" presId="urn:microsoft.com/office/officeart/2005/8/layout/orgChart1"/>
    <dgm:cxn modelId="{8E4BC906-5FB2-469B-827B-E72EAE6BDD2D}" type="presOf" srcId="{C91A7FE2-AC45-4E6B-81D0-B9B52C5EE6CE}" destId="{C4A63A12-2E49-4D86-A343-3EBA4D6B1275}" srcOrd="0" destOrd="0" presId="urn:microsoft.com/office/officeart/2005/8/layout/orgChart1"/>
    <dgm:cxn modelId="{77AEA809-050D-4478-8C13-CEC0E42F8899}" type="presOf" srcId="{77C4E2D6-67A5-471D-B415-7CC7DB702A2B}" destId="{6302540A-CAFD-4649-A954-870B3D402829}" srcOrd="1" destOrd="0" presId="urn:microsoft.com/office/officeart/2005/8/layout/orgChart1"/>
    <dgm:cxn modelId="{841F773E-F891-410A-B931-97C03A7EDE63}" type="presOf" srcId="{ACDBD952-8815-4638-A7E3-BDF4C654927C}" destId="{5F013766-F682-4242-8C79-0D4A77189E49}" srcOrd="1" destOrd="0" presId="urn:microsoft.com/office/officeart/2005/8/layout/orgChart1"/>
    <dgm:cxn modelId="{D6846A4C-C9A5-4DF1-9ADB-DAE71D4D3116}" srcId="{C91A7FE2-AC45-4E6B-81D0-B9B52C5EE6CE}" destId="{77C4E2D6-67A5-471D-B415-7CC7DB702A2B}" srcOrd="0" destOrd="0" parTransId="{66884235-A428-4DF1-8296-F46C316ACF16}" sibTransId="{4E499BB9-FC23-40D5-8A34-A88C538776A2}"/>
    <dgm:cxn modelId="{221B1582-DCB4-4480-8992-EF168FEDBCB3}" type="presOf" srcId="{604BA919-BF1D-40D1-809D-A2222DD7F69C}" destId="{0400935D-BE94-4EF9-BE61-4EF5CD2C0958}" srcOrd="0" destOrd="0" presId="urn:microsoft.com/office/officeart/2005/8/layout/orgChart1"/>
    <dgm:cxn modelId="{3FE5F892-658A-4445-BF1B-A25E683CC5C5}" srcId="{C91A7FE2-AC45-4E6B-81D0-B9B52C5EE6CE}" destId="{ACDBD952-8815-4638-A7E3-BDF4C654927C}" srcOrd="1" destOrd="0" parTransId="{604BA919-BF1D-40D1-809D-A2222DD7F69C}" sibTransId="{1015AF33-D063-42FD-90B8-244259333831}"/>
    <dgm:cxn modelId="{136841B6-764F-420B-AA37-F581578F310F}" type="presOf" srcId="{2FB31477-C0C0-4ECD-8E95-9B52D3CD0AC2}" destId="{E3345EAF-0FE7-41C5-9BF8-8F376DD5BB9A}" srcOrd="1" destOrd="0" presId="urn:microsoft.com/office/officeart/2005/8/layout/orgChart1"/>
    <dgm:cxn modelId="{4E0061BF-D9D8-4D66-9C06-E1FC982BCBE1}" type="presOf" srcId="{ACDBD952-8815-4638-A7E3-BDF4C654927C}" destId="{B6527DAB-D3EC-4311-93D9-6E13D1397FB1}" srcOrd="0" destOrd="0" presId="urn:microsoft.com/office/officeart/2005/8/layout/orgChart1"/>
    <dgm:cxn modelId="{1347C4C0-7CA1-4DC4-BA17-0EE22170F325}" type="presOf" srcId="{2FB31477-C0C0-4ECD-8E95-9B52D3CD0AC2}" destId="{0DBB209B-3B47-4BF3-9DEA-5D815673FD92}" srcOrd="0" destOrd="0" presId="urn:microsoft.com/office/officeart/2005/8/layout/orgChart1"/>
    <dgm:cxn modelId="{B673FFD3-924B-4C95-825D-06E76B49D362}" srcId="{C91A7FE2-AC45-4E6B-81D0-B9B52C5EE6CE}" destId="{2FB31477-C0C0-4ECD-8E95-9B52D3CD0AC2}" srcOrd="2" destOrd="0" parTransId="{FC410419-EC81-4D37-8843-FAA69683ADB3}" sibTransId="{77B7AE4D-0028-4DF0-827E-4716B1900537}"/>
    <dgm:cxn modelId="{D5C6FCD4-245B-4896-ACA8-363B90918DD0}" type="presOf" srcId="{700748A1-84C3-44C6-9233-54D5CC898DEA}" destId="{BDFD585E-B63F-4E65-80EE-0B6C83FDC758}" srcOrd="0" destOrd="0" presId="urn:microsoft.com/office/officeart/2005/8/layout/orgChart1"/>
    <dgm:cxn modelId="{7CD62FDE-B17C-4619-94A0-BC68F100D420}" srcId="{700748A1-84C3-44C6-9233-54D5CC898DEA}" destId="{C91A7FE2-AC45-4E6B-81D0-B9B52C5EE6CE}" srcOrd="0" destOrd="0" parTransId="{06199F46-3242-40CC-9F24-4352888D108D}" sibTransId="{7503F8FD-636E-4699-AA83-8B5C367F0003}"/>
    <dgm:cxn modelId="{ED7F64EB-2FD8-485D-B6D5-C7E91A20DEA5}" type="presOf" srcId="{C91A7FE2-AC45-4E6B-81D0-B9B52C5EE6CE}" destId="{3BBE09C7-9B9D-4606-A5F5-96377C4B8B8E}" srcOrd="1" destOrd="0" presId="urn:microsoft.com/office/officeart/2005/8/layout/orgChart1"/>
    <dgm:cxn modelId="{1E3812F7-7E99-421D-AEC8-D127A6060B92}" type="presOf" srcId="{77C4E2D6-67A5-471D-B415-7CC7DB702A2B}" destId="{24BDA6E4-3CA0-4266-91DE-13A3191026AF}" srcOrd="0" destOrd="0" presId="urn:microsoft.com/office/officeart/2005/8/layout/orgChart1"/>
    <dgm:cxn modelId="{9809AFF8-15D4-453D-ACB7-EC3D888D697F}" type="presOf" srcId="{66884235-A428-4DF1-8296-F46C316ACF16}" destId="{DCB72162-4171-4558-9BD0-E630C9B58EF4}" srcOrd="0" destOrd="0" presId="urn:microsoft.com/office/officeart/2005/8/layout/orgChart1"/>
    <dgm:cxn modelId="{D69D04CF-AB5B-433A-A026-814CA25EB55D}" type="presParOf" srcId="{BDFD585E-B63F-4E65-80EE-0B6C83FDC758}" destId="{5CD447C9-5399-4DBA-B4F3-4EBBBFAF01B2}" srcOrd="0" destOrd="0" presId="urn:microsoft.com/office/officeart/2005/8/layout/orgChart1"/>
    <dgm:cxn modelId="{8FBE8C6D-5D87-40AB-BC62-4AA911FCDC5A}" type="presParOf" srcId="{5CD447C9-5399-4DBA-B4F3-4EBBBFAF01B2}" destId="{E4550B3E-5235-486B-B0CC-1B1341820D9E}" srcOrd="0" destOrd="0" presId="urn:microsoft.com/office/officeart/2005/8/layout/orgChart1"/>
    <dgm:cxn modelId="{9A3D02F6-C756-43F6-932F-EA3E2EDA22A6}" type="presParOf" srcId="{E4550B3E-5235-486B-B0CC-1B1341820D9E}" destId="{C4A63A12-2E49-4D86-A343-3EBA4D6B1275}" srcOrd="0" destOrd="0" presId="urn:microsoft.com/office/officeart/2005/8/layout/orgChart1"/>
    <dgm:cxn modelId="{C6B6C306-EB2F-42C4-8DA1-D524DADB68D4}" type="presParOf" srcId="{E4550B3E-5235-486B-B0CC-1B1341820D9E}" destId="{3BBE09C7-9B9D-4606-A5F5-96377C4B8B8E}" srcOrd="1" destOrd="0" presId="urn:microsoft.com/office/officeart/2005/8/layout/orgChart1"/>
    <dgm:cxn modelId="{F9CF5D90-C634-450B-8BB2-87DCAF359635}" type="presParOf" srcId="{5CD447C9-5399-4DBA-B4F3-4EBBBFAF01B2}" destId="{BBA8EFD6-E3EA-4D47-9B52-246E3CED6542}" srcOrd="1" destOrd="0" presId="urn:microsoft.com/office/officeart/2005/8/layout/orgChart1"/>
    <dgm:cxn modelId="{F8F3EA04-EB5C-424F-BCEB-EC7BAE03957D}" type="presParOf" srcId="{BBA8EFD6-E3EA-4D47-9B52-246E3CED6542}" destId="{DCB72162-4171-4558-9BD0-E630C9B58EF4}" srcOrd="0" destOrd="0" presId="urn:microsoft.com/office/officeart/2005/8/layout/orgChart1"/>
    <dgm:cxn modelId="{F526AEA5-3C4E-41B3-B381-70E72378FEE8}" type="presParOf" srcId="{BBA8EFD6-E3EA-4D47-9B52-246E3CED6542}" destId="{BBB16BA2-329D-4D9A-A5FB-2F940ECA879B}" srcOrd="1" destOrd="0" presId="urn:microsoft.com/office/officeart/2005/8/layout/orgChart1"/>
    <dgm:cxn modelId="{42861A12-79DC-4978-BAC4-BDCEB2ED7260}" type="presParOf" srcId="{BBB16BA2-329D-4D9A-A5FB-2F940ECA879B}" destId="{D41B3988-7410-496F-8A7E-DAC56C122E94}" srcOrd="0" destOrd="0" presId="urn:microsoft.com/office/officeart/2005/8/layout/orgChart1"/>
    <dgm:cxn modelId="{95ADB0D3-2CA3-4AA1-9612-9B7B0C81E03E}" type="presParOf" srcId="{D41B3988-7410-496F-8A7E-DAC56C122E94}" destId="{24BDA6E4-3CA0-4266-91DE-13A3191026AF}" srcOrd="0" destOrd="0" presId="urn:microsoft.com/office/officeart/2005/8/layout/orgChart1"/>
    <dgm:cxn modelId="{89D54EED-1BAB-4D2D-BC00-8CC8DCFB57E3}" type="presParOf" srcId="{D41B3988-7410-496F-8A7E-DAC56C122E94}" destId="{6302540A-CAFD-4649-A954-870B3D402829}" srcOrd="1" destOrd="0" presId="urn:microsoft.com/office/officeart/2005/8/layout/orgChart1"/>
    <dgm:cxn modelId="{BEE8515F-F8B5-4FCE-A00E-569CDE512DAE}" type="presParOf" srcId="{BBB16BA2-329D-4D9A-A5FB-2F940ECA879B}" destId="{B779A39F-1B1D-4E66-A9B7-358197CB6F0A}" srcOrd="1" destOrd="0" presId="urn:microsoft.com/office/officeart/2005/8/layout/orgChart1"/>
    <dgm:cxn modelId="{3267F5D1-0D88-4B28-ABB9-FAE9104734EE}" type="presParOf" srcId="{BBB16BA2-329D-4D9A-A5FB-2F940ECA879B}" destId="{830359E1-4F90-4784-9542-A776B7B074FB}" srcOrd="2" destOrd="0" presId="urn:microsoft.com/office/officeart/2005/8/layout/orgChart1"/>
    <dgm:cxn modelId="{66077497-87D2-40CF-AB97-2EE5AA60626D}" type="presParOf" srcId="{BBA8EFD6-E3EA-4D47-9B52-246E3CED6542}" destId="{0400935D-BE94-4EF9-BE61-4EF5CD2C0958}" srcOrd="2" destOrd="0" presId="urn:microsoft.com/office/officeart/2005/8/layout/orgChart1"/>
    <dgm:cxn modelId="{7ADA3907-75D2-408E-869D-1A9E87DC0736}" type="presParOf" srcId="{BBA8EFD6-E3EA-4D47-9B52-246E3CED6542}" destId="{80120461-09EB-4C9C-985E-F3BC8E56E0C6}" srcOrd="3" destOrd="0" presId="urn:microsoft.com/office/officeart/2005/8/layout/orgChart1"/>
    <dgm:cxn modelId="{1C9BBC89-DF36-4A72-9C2D-7C39D87CA41E}" type="presParOf" srcId="{80120461-09EB-4C9C-985E-F3BC8E56E0C6}" destId="{1EFBDEA0-E280-46C0-AFD6-31A1BCB9D915}" srcOrd="0" destOrd="0" presId="urn:microsoft.com/office/officeart/2005/8/layout/orgChart1"/>
    <dgm:cxn modelId="{DD958E39-FAB0-4D1C-BDBA-2018C12ACC3C}" type="presParOf" srcId="{1EFBDEA0-E280-46C0-AFD6-31A1BCB9D915}" destId="{B6527DAB-D3EC-4311-93D9-6E13D1397FB1}" srcOrd="0" destOrd="0" presId="urn:microsoft.com/office/officeart/2005/8/layout/orgChart1"/>
    <dgm:cxn modelId="{74BE3B19-83D4-46E5-838A-650AEF4D277F}" type="presParOf" srcId="{1EFBDEA0-E280-46C0-AFD6-31A1BCB9D915}" destId="{5F013766-F682-4242-8C79-0D4A77189E49}" srcOrd="1" destOrd="0" presId="urn:microsoft.com/office/officeart/2005/8/layout/orgChart1"/>
    <dgm:cxn modelId="{7453B6B7-C6A0-4EC0-9FA1-04435B80D67F}" type="presParOf" srcId="{80120461-09EB-4C9C-985E-F3BC8E56E0C6}" destId="{D83D2953-E65B-4742-B819-D5815A49790C}" srcOrd="1" destOrd="0" presId="urn:microsoft.com/office/officeart/2005/8/layout/orgChart1"/>
    <dgm:cxn modelId="{D2656679-CC4E-4F8B-8440-AA6495E19BB8}" type="presParOf" srcId="{80120461-09EB-4C9C-985E-F3BC8E56E0C6}" destId="{FF0672D1-DC7A-447C-BBE9-B9E08E5D9D0F}" srcOrd="2" destOrd="0" presId="urn:microsoft.com/office/officeart/2005/8/layout/orgChart1"/>
    <dgm:cxn modelId="{EB59553A-8ED2-4FCC-9009-05B0E95AA814}" type="presParOf" srcId="{BBA8EFD6-E3EA-4D47-9B52-246E3CED6542}" destId="{8A90806A-E205-482E-951D-9FEB29B2785C}" srcOrd="4" destOrd="0" presId="urn:microsoft.com/office/officeart/2005/8/layout/orgChart1"/>
    <dgm:cxn modelId="{F28DD549-E5AB-407D-9B90-90320900586B}" type="presParOf" srcId="{BBA8EFD6-E3EA-4D47-9B52-246E3CED6542}" destId="{9F664AFC-043E-485F-A723-7FF47B0A7D84}" srcOrd="5" destOrd="0" presId="urn:microsoft.com/office/officeart/2005/8/layout/orgChart1"/>
    <dgm:cxn modelId="{041C0F5F-E7BA-480C-93EC-F9C1A326AA3D}" type="presParOf" srcId="{9F664AFC-043E-485F-A723-7FF47B0A7D84}" destId="{956419C0-1A53-4E9E-9AD4-8482C6FFA47E}" srcOrd="0" destOrd="0" presId="urn:microsoft.com/office/officeart/2005/8/layout/orgChart1"/>
    <dgm:cxn modelId="{DF7F77BC-8EEC-4DE8-975B-95FFA627C1F0}" type="presParOf" srcId="{956419C0-1A53-4E9E-9AD4-8482C6FFA47E}" destId="{0DBB209B-3B47-4BF3-9DEA-5D815673FD92}" srcOrd="0" destOrd="0" presId="urn:microsoft.com/office/officeart/2005/8/layout/orgChart1"/>
    <dgm:cxn modelId="{0699B398-EB72-49B3-8F1D-5284C827C0ED}" type="presParOf" srcId="{956419C0-1A53-4E9E-9AD4-8482C6FFA47E}" destId="{E3345EAF-0FE7-41C5-9BF8-8F376DD5BB9A}" srcOrd="1" destOrd="0" presId="urn:microsoft.com/office/officeart/2005/8/layout/orgChart1"/>
    <dgm:cxn modelId="{AFE2271B-E747-4797-BF21-E8C969FF3AE1}" type="presParOf" srcId="{9F664AFC-043E-485F-A723-7FF47B0A7D84}" destId="{5090D20A-B616-4428-872A-19C698D08EE3}" srcOrd="1" destOrd="0" presId="urn:microsoft.com/office/officeart/2005/8/layout/orgChart1"/>
    <dgm:cxn modelId="{B603AB7C-1F97-43C6-A1DF-3D0C4C90AE5E}" type="presParOf" srcId="{9F664AFC-043E-485F-A723-7FF47B0A7D84}" destId="{04C9208B-43C2-4279-894F-8CB88D4D0EBC}" srcOrd="2" destOrd="0" presId="urn:microsoft.com/office/officeart/2005/8/layout/orgChart1"/>
    <dgm:cxn modelId="{10EF8F9E-954D-4A6B-BBA5-0D7F5FE8309A}" type="presParOf" srcId="{5CD447C9-5399-4DBA-B4F3-4EBBBFAF01B2}" destId="{B277F5A5-A3B9-4204-B637-F903F0AA3452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F6B2458B-9555-45BE-A695-8C08C848B8A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ru-RU"/>
        </a:p>
      </dgm:t>
    </dgm:pt>
    <dgm:pt modelId="{DE6A875A-3B87-484C-9D0E-C1862B46D565}">
      <dgm:prSet/>
      <dgm:spPr/>
      <dgm:t>
        <a:bodyPr/>
        <a:lstStyle/>
        <a:p>
          <a:r>
            <a:rPr lang="ru-RU"/>
            <a:t>Из-за сбоя в работе 1 сервера в период 05.09 с 00:00 до 9:00 средняя длительность проведения транзакций увеличилась на 43%</a:t>
          </a:r>
        </a:p>
      </dgm:t>
    </dgm:pt>
    <dgm:pt modelId="{176C2BCB-A78C-46E3-9553-93582D6C6B29}" type="parTrans" cxnId="{D2A978D9-AC91-4D1D-A457-9726AF35E59A}">
      <dgm:prSet/>
      <dgm:spPr/>
      <dgm:t>
        <a:bodyPr/>
        <a:lstStyle/>
        <a:p>
          <a:endParaRPr lang="ru-RU"/>
        </a:p>
      </dgm:t>
    </dgm:pt>
    <dgm:pt modelId="{4F12F04B-8B83-48A3-A692-EC2931298831}" type="sibTrans" cxnId="{D2A978D9-AC91-4D1D-A457-9726AF35E59A}">
      <dgm:prSet/>
      <dgm:spPr/>
      <dgm:t>
        <a:bodyPr/>
        <a:lstStyle/>
        <a:p>
          <a:endParaRPr lang="ru-RU"/>
        </a:p>
      </dgm:t>
    </dgm:pt>
    <dgm:pt modelId="{9182AE87-6926-45CF-AC8B-DD1E9C1E9F5A}" type="pres">
      <dgm:prSet presAssocID="{F6B2458B-9555-45BE-A695-8C08C848B8A9}" presName="linear" presStyleCnt="0">
        <dgm:presLayoutVars>
          <dgm:animLvl val="lvl"/>
          <dgm:resizeHandles val="exact"/>
        </dgm:presLayoutVars>
      </dgm:prSet>
      <dgm:spPr/>
    </dgm:pt>
    <dgm:pt modelId="{C4EB67E2-721C-4119-84A4-6B8A3CE8EEA3}" type="pres">
      <dgm:prSet presAssocID="{DE6A875A-3B87-484C-9D0E-C1862B46D565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EE22174A-7002-48CD-857A-B9D21B27D0F0}" type="presOf" srcId="{F6B2458B-9555-45BE-A695-8C08C848B8A9}" destId="{9182AE87-6926-45CF-AC8B-DD1E9C1E9F5A}" srcOrd="0" destOrd="0" presId="urn:microsoft.com/office/officeart/2005/8/layout/vList2"/>
    <dgm:cxn modelId="{D2A978D9-AC91-4D1D-A457-9726AF35E59A}" srcId="{F6B2458B-9555-45BE-A695-8C08C848B8A9}" destId="{DE6A875A-3B87-484C-9D0E-C1862B46D565}" srcOrd="0" destOrd="0" parTransId="{176C2BCB-A78C-46E3-9553-93582D6C6B29}" sibTransId="{4F12F04B-8B83-48A3-A692-EC2931298831}"/>
    <dgm:cxn modelId="{472FB6E8-2456-46EE-B56F-544837F1069A}" type="presOf" srcId="{DE6A875A-3B87-484C-9D0E-C1862B46D565}" destId="{C4EB67E2-721C-4119-84A4-6B8A3CE8EEA3}" srcOrd="0" destOrd="0" presId="urn:microsoft.com/office/officeart/2005/8/layout/vList2"/>
    <dgm:cxn modelId="{0A719562-61B6-4738-8FE2-E1715FAA3EEB}" type="presParOf" srcId="{9182AE87-6926-45CF-AC8B-DD1E9C1E9F5A}" destId="{C4EB67E2-721C-4119-84A4-6B8A3CE8EEA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A0B4CB8B-4469-4F04-AED4-0EAEBDFD6C9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ru-RU"/>
        </a:p>
      </dgm:t>
    </dgm:pt>
    <dgm:pt modelId="{CF1D9E6C-8443-4346-822D-EB7470C0FCF0}">
      <dgm:prSet/>
      <dgm:spPr/>
      <dgm:t>
        <a:bodyPr/>
        <a:lstStyle/>
        <a:p>
          <a:r>
            <a:rPr lang="ru-RU"/>
            <a:t>Из-за сбоя в работе 1 сервера 06.09 в течение всего дня заметно увеличение длительности транзакций у клиентов на кассах самообслуживания с картой лояльности на 24%</a:t>
          </a:r>
        </a:p>
      </dgm:t>
    </dgm:pt>
    <dgm:pt modelId="{065CA7A8-9F88-4B4A-98C8-014FF9C3435C}" type="parTrans" cxnId="{A1D39CC3-59B8-472C-AED5-EDAD48C87682}">
      <dgm:prSet/>
      <dgm:spPr/>
      <dgm:t>
        <a:bodyPr/>
        <a:lstStyle/>
        <a:p>
          <a:endParaRPr lang="ru-RU"/>
        </a:p>
      </dgm:t>
    </dgm:pt>
    <dgm:pt modelId="{4A4B49AB-2038-45E6-A56C-A16C539355CF}" type="sibTrans" cxnId="{A1D39CC3-59B8-472C-AED5-EDAD48C87682}">
      <dgm:prSet/>
      <dgm:spPr/>
      <dgm:t>
        <a:bodyPr/>
        <a:lstStyle/>
        <a:p>
          <a:endParaRPr lang="ru-RU"/>
        </a:p>
      </dgm:t>
    </dgm:pt>
    <dgm:pt modelId="{46BB3D92-49A3-4EC5-B0F4-BCDF59730B06}" type="pres">
      <dgm:prSet presAssocID="{A0B4CB8B-4469-4F04-AED4-0EAEBDFD6C97}" presName="linear" presStyleCnt="0">
        <dgm:presLayoutVars>
          <dgm:animLvl val="lvl"/>
          <dgm:resizeHandles val="exact"/>
        </dgm:presLayoutVars>
      </dgm:prSet>
      <dgm:spPr/>
    </dgm:pt>
    <dgm:pt modelId="{42258733-6082-481D-B754-B1CCF66F8733}" type="pres">
      <dgm:prSet presAssocID="{CF1D9E6C-8443-4346-822D-EB7470C0FCF0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374C9020-539D-49FB-BC3F-570570656B81}" type="presOf" srcId="{A0B4CB8B-4469-4F04-AED4-0EAEBDFD6C97}" destId="{46BB3D92-49A3-4EC5-B0F4-BCDF59730B06}" srcOrd="0" destOrd="0" presId="urn:microsoft.com/office/officeart/2005/8/layout/vList2"/>
    <dgm:cxn modelId="{A1D39CC3-59B8-472C-AED5-EDAD48C87682}" srcId="{A0B4CB8B-4469-4F04-AED4-0EAEBDFD6C97}" destId="{CF1D9E6C-8443-4346-822D-EB7470C0FCF0}" srcOrd="0" destOrd="0" parTransId="{065CA7A8-9F88-4B4A-98C8-014FF9C3435C}" sibTransId="{4A4B49AB-2038-45E6-A56C-A16C539355CF}"/>
    <dgm:cxn modelId="{2FEDE3EA-A3C8-44D5-A248-B96F04D8BB16}" type="presOf" srcId="{CF1D9E6C-8443-4346-822D-EB7470C0FCF0}" destId="{42258733-6082-481D-B754-B1CCF66F8733}" srcOrd="0" destOrd="0" presId="urn:microsoft.com/office/officeart/2005/8/layout/vList2"/>
    <dgm:cxn modelId="{C4653EE0-424D-4833-9134-430163805299}" type="presParOf" srcId="{46BB3D92-49A3-4EC5-B0F4-BCDF59730B06}" destId="{42258733-6082-481D-B754-B1CCF66F873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FEC0EEE9-5AD5-4524-83D5-24E6E9DF5B0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4AF35729-2D58-412A-AB5D-9764B66BA329}">
      <dgm:prSet/>
      <dgm:spPr/>
      <dgm:t>
        <a:bodyPr/>
        <a:lstStyle/>
        <a:p>
          <a:r>
            <a:rPr lang="ru-RU" dirty="0"/>
            <a:t>Из-за сбоя в работе 2 сервера в период 12:00-13:00 в день 07.09 средняя длительность проведения транзакций на обычных кассах увеличилась на 69%</a:t>
          </a:r>
        </a:p>
      </dgm:t>
    </dgm:pt>
    <dgm:pt modelId="{E728A57C-3041-4E6F-AFBD-663171A062D8}" type="parTrans" cxnId="{97F725B0-6426-4BE3-A07C-84D64960E0F1}">
      <dgm:prSet/>
      <dgm:spPr/>
      <dgm:t>
        <a:bodyPr/>
        <a:lstStyle/>
        <a:p>
          <a:endParaRPr lang="ru-RU"/>
        </a:p>
      </dgm:t>
    </dgm:pt>
    <dgm:pt modelId="{A7744920-EE9C-4F8C-B4F5-F3857AB92A42}" type="sibTrans" cxnId="{97F725B0-6426-4BE3-A07C-84D64960E0F1}">
      <dgm:prSet/>
      <dgm:spPr/>
      <dgm:t>
        <a:bodyPr/>
        <a:lstStyle/>
        <a:p>
          <a:endParaRPr lang="ru-RU"/>
        </a:p>
      </dgm:t>
    </dgm:pt>
    <dgm:pt modelId="{DBBB8B92-1411-4DAA-8524-87785409B8DF}" type="pres">
      <dgm:prSet presAssocID="{FEC0EEE9-5AD5-4524-83D5-24E6E9DF5B0B}" presName="linear" presStyleCnt="0">
        <dgm:presLayoutVars>
          <dgm:animLvl val="lvl"/>
          <dgm:resizeHandles val="exact"/>
        </dgm:presLayoutVars>
      </dgm:prSet>
      <dgm:spPr/>
    </dgm:pt>
    <dgm:pt modelId="{D604D35F-F9D8-484B-80EC-C7EE9F4DCF4B}" type="pres">
      <dgm:prSet presAssocID="{4AF35729-2D58-412A-AB5D-9764B66BA329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E6789C0F-CE5F-4F9B-A3D1-9768F372C49C}" type="presOf" srcId="{4AF35729-2D58-412A-AB5D-9764B66BA329}" destId="{D604D35F-F9D8-484B-80EC-C7EE9F4DCF4B}" srcOrd="0" destOrd="0" presId="urn:microsoft.com/office/officeart/2005/8/layout/vList2"/>
    <dgm:cxn modelId="{058C1116-C7BE-4322-8E30-6C2EE132421F}" type="presOf" srcId="{FEC0EEE9-5AD5-4524-83D5-24E6E9DF5B0B}" destId="{DBBB8B92-1411-4DAA-8524-87785409B8DF}" srcOrd="0" destOrd="0" presId="urn:microsoft.com/office/officeart/2005/8/layout/vList2"/>
    <dgm:cxn modelId="{97F725B0-6426-4BE3-A07C-84D64960E0F1}" srcId="{FEC0EEE9-5AD5-4524-83D5-24E6E9DF5B0B}" destId="{4AF35729-2D58-412A-AB5D-9764B66BA329}" srcOrd="0" destOrd="0" parTransId="{E728A57C-3041-4E6F-AFBD-663171A062D8}" sibTransId="{A7744920-EE9C-4F8C-B4F5-F3857AB92A42}"/>
    <dgm:cxn modelId="{2DFB1791-0901-4E85-A62B-A8D6043B2F3B}" type="presParOf" srcId="{DBBB8B92-1411-4DAA-8524-87785409B8DF}" destId="{D604D35F-F9D8-484B-80EC-C7EE9F4DCF4B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AFB9A41A-9966-4485-B2CA-B046AE864FD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ru-RU"/>
        </a:p>
      </dgm:t>
    </dgm:pt>
    <dgm:pt modelId="{54E8D655-29DD-479E-A71C-90DAE8095498}">
      <dgm:prSet custT="1"/>
      <dgm:spPr/>
      <dgm:t>
        <a:bodyPr/>
        <a:lstStyle/>
        <a:p>
          <a:r>
            <a:rPr lang="ru-RU" sz="2000" dirty="0"/>
            <a:t>В результате акции отмечается увеличение среднего чека на 8%</a:t>
          </a:r>
        </a:p>
      </dgm:t>
    </dgm:pt>
    <dgm:pt modelId="{8FD201AB-FFD4-4501-828A-8969DCBE0CA5}" type="parTrans" cxnId="{CBEBB9E0-1B21-4F6E-8AE7-3AF890EB137E}">
      <dgm:prSet/>
      <dgm:spPr/>
      <dgm:t>
        <a:bodyPr/>
        <a:lstStyle/>
        <a:p>
          <a:endParaRPr lang="ru-RU"/>
        </a:p>
      </dgm:t>
    </dgm:pt>
    <dgm:pt modelId="{6CD75B0D-C195-4DF2-82FA-DE48C6774441}" type="sibTrans" cxnId="{CBEBB9E0-1B21-4F6E-8AE7-3AF890EB137E}">
      <dgm:prSet/>
      <dgm:spPr/>
      <dgm:t>
        <a:bodyPr/>
        <a:lstStyle/>
        <a:p>
          <a:endParaRPr lang="ru-RU"/>
        </a:p>
      </dgm:t>
    </dgm:pt>
    <dgm:pt modelId="{4D612602-F800-4B9E-A1D8-249EA7E9F176}" type="pres">
      <dgm:prSet presAssocID="{AFB9A41A-9966-4485-B2CA-B046AE864FD5}" presName="linear" presStyleCnt="0">
        <dgm:presLayoutVars>
          <dgm:animLvl val="lvl"/>
          <dgm:resizeHandles val="exact"/>
        </dgm:presLayoutVars>
      </dgm:prSet>
      <dgm:spPr/>
    </dgm:pt>
    <dgm:pt modelId="{C37467EA-F449-4044-A75D-959DC3B07D3E}" type="pres">
      <dgm:prSet presAssocID="{54E8D655-29DD-479E-A71C-90DAE8095498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8EE8262C-18AE-4A2F-AE8C-1BD714F780EC}" type="presOf" srcId="{54E8D655-29DD-479E-A71C-90DAE8095498}" destId="{C37467EA-F449-4044-A75D-959DC3B07D3E}" srcOrd="0" destOrd="0" presId="urn:microsoft.com/office/officeart/2005/8/layout/vList2"/>
    <dgm:cxn modelId="{788ED5B9-8638-4C48-9F8A-A6958EFF3BE4}" type="presOf" srcId="{AFB9A41A-9966-4485-B2CA-B046AE864FD5}" destId="{4D612602-F800-4B9E-A1D8-249EA7E9F176}" srcOrd="0" destOrd="0" presId="urn:microsoft.com/office/officeart/2005/8/layout/vList2"/>
    <dgm:cxn modelId="{CBEBB9E0-1B21-4F6E-8AE7-3AF890EB137E}" srcId="{AFB9A41A-9966-4485-B2CA-B046AE864FD5}" destId="{54E8D655-29DD-479E-A71C-90DAE8095498}" srcOrd="0" destOrd="0" parTransId="{8FD201AB-FFD4-4501-828A-8969DCBE0CA5}" sibTransId="{6CD75B0D-C195-4DF2-82FA-DE48C6774441}"/>
    <dgm:cxn modelId="{2839A217-8AF0-4081-A07A-165A4219A6CC}" type="presParOf" srcId="{4D612602-F800-4B9E-A1D8-249EA7E9F176}" destId="{C37467EA-F449-4044-A75D-959DC3B07D3E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82667655-830A-43EA-B237-9CC629532B2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C21D9D8-AEAB-4E29-867C-AAEBE33606D2}">
      <dgm:prSet custT="1"/>
      <dgm:spPr/>
      <dgm:t>
        <a:bodyPr/>
        <a:lstStyle/>
        <a:p>
          <a:r>
            <a:rPr lang="ru-RU" sz="1800" dirty="0"/>
            <a:t>На графике отмечено, что прибыль, полученная в результате акции, превалирует над затратами, что свидетельствует об успехе акции</a:t>
          </a:r>
        </a:p>
      </dgm:t>
    </dgm:pt>
    <dgm:pt modelId="{77C60653-4A8B-4891-A48B-61F9B8482F69}" type="parTrans" cxnId="{CFE2A616-B143-44FF-A45C-3D4FBD18C9EE}">
      <dgm:prSet/>
      <dgm:spPr/>
      <dgm:t>
        <a:bodyPr/>
        <a:lstStyle/>
        <a:p>
          <a:endParaRPr lang="ru-RU"/>
        </a:p>
      </dgm:t>
    </dgm:pt>
    <dgm:pt modelId="{57BE7EFA-3B1E-4D95-855F-4225868DEE80}" type="sibTrans" cxnId="{CFE2A616-B143-44FF-A45C-3D4FBD18C9EE}">
      <dgm:prSet/>
      <dgm:spPr/>
      <dgm:t>
        <a:bodyPr/>
        <a:lstStyle/>
        <a:p>
          <a:endParaRPr lang="ru-RU"/>
        </a:p>
      </dgm:t>
    </dgm:pt>
    <dgm:pt modelId="{730C7A43-62DC-4E63-B039-5BFC20E7D294}" type="pres">
      <dgm:prSet presAssocID="{82667655-830A-43EA-B237-9CC629532B21}" presName="linear" presStyleCnt="0">
        <dgm:presLayoutVars>
          <dgm:animLvl val="lvl"/>
          <dgm:resizeHandles val="exact"/>
        </dgm:presLayoutVars>
      </dgm:prSet>
      <dgm:spPr/>
    </dgm:pt>
    <dgm:pt modelId="{AAF1FA77-D13D-438B-9DBC-2CCFA6E93F4A}" type="pres">
      <dgm:prSet presAssocID="{EC21D9D8-AEAB-4E29-867C-AAEBE33606D2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CFE2A616-B143-44FF-A45C-3D4FBD18C9EE}" srcId="{82667655-830A-43EA-B237-9CC629532B21}" destId="{EC21D9D8-AEAB-4E29-867C-AAEBE33606D2}" srcOrd="0" destOrd="0" parTransId="{77C60653-4A8B-4891-A48B-61F9B8482F69}" sibTransId="{57BE7EFA-3B1E-4D95-855F-4225868DEE80}"/>
    <dgm:cxn modelId="{1E69A32A-DC86-4049-8379-4873F930789F}" type="presOf" srcId="{EC21D9D8-AEAB-4E29-867C-AAEBE33606D2}" destId="{AAF1FA77-D13D-438B-9DBC-2CCFA6E93F4A}" srcOrd="0" destOrd="0" presId="urn:microsoft.com/office/officeart/2005/8/layout/vList2"/>
    <dgm:cxn modelId="{95958C32-8E34-4275-AC6B-2E730A8692E3}" type="presOf" srcId="{82667655-830A-43EA-B237-9CC629532B21}" destId="{730C7A43-62DC-4E63-B039-5BFC20E7D294}" srcOrd="0" destOrd="0" presId="urn:microsoft.com/office/officeart/2005/8/layout/vList2"/>
    <dgm:cxn modelId="{26C3E4B0-F86F-4490-9777-0466BFA934B3}" type="presParOf" srcId="{730C7A43-62DC-4E63-B039-5BFC20E7D294}" destId="{AAF1FA77-D13D-438B-9DBC-2CCFA6E93F4A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B54ED2CA-935E-4756-B395-DEED912F709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17139CA2-2F3B-4E62-87AC-8E604E8E9117}">
      <dgm:prSet custT="1"/>
      <dgm:spPr/>
      <dgm:t>
        <a:bodyPr/>
        <a:lstStyle/>
        <a:p>
          <a:pPr algn="ctr"/>
          <a:r>
            <a:rPr lang="ru-RU" sz="1600" dirty="0"/>
            <a:t>Изменив программу лояльности таким образом, </a:t>
          </a:r>
        </a:p>
        <a:p>
          <a:pPr algn="ctr"/>
          <a:r>
            <a:rPr lang="ru-RU" sz="1600" dirty="0"/>
            <a:t>чтобы снизить скидку на 1% удастся сэкономить 176876 рублей </a:t>
          </a:r>
        </a:p>
      </dgm:t>
    </dgm:pt>
    <dgm:pt modelId="{93157675-8833-457A-B39D-530834DBA90C}" type="parTrans" cxnId="{62F161C0-4B05-4E01-9D7D-B46A55EDAA27}">
      <dgm:prSet/>
      <dgm:spPr/>
      <dgm:t>
        <a:bodyPr/>
        <a:lstStyle/>
        <a:p>
          <a:endParaRPr lang="ru-RU"/>
        </a:p>
      </dgm:t>
    </dgm:pt>
    <dgm:pt modelId="{C8BF15BF-E186-4935-93A6-2576190C1160}" type="sibTrans" cxnId="{62F161C0-4B05-4E01-9D7D-B46A55EDAA27}">
      <dgm:prSet/>
      <dgm:spPr/>
      <dgm:t>
        <a:bodyPr/>
        <a:lstStyle/>
        <a:p>
          <a:endParaRPr lang="ru-RU"/>
        </a:p>
      </dgm:t>
    </dgm:pt>
    <dgm:pt modelId="{C3DF725D-36E4-4A85-97B0-86950A888D73}" type="pres">
      <dgm:prSet presAssocID="{B54ED2CA-935E-4756-B395-DEED912F7096}" presName="linear" presStyleCnt="0">
        <dgm:presLayoutVars>
          <dgm:animLvl val="lvl"/>
          <dgm:resizeHandles val="exact"/>
        </dgm:presLayoutVars>
      </dgm:prSet>
      <dgm:spPr/>
    </dgm:pt>
    <dgm:pt modelId="{AAA50E1F-130C-47A4-BBAC-39AFE6F3A3FD}" type="pres">
      <dgm:prSet presAssocID="{17139CA2-2F3B-4E62-87AC-8E604E8E9117}" presName="parentText" presStyleLbl="node1" presStyleIdx="0" presStyleCnt="1" custLinFactNeighborX="-11253" custLinFactNeighborY="-18654">
        <dgm:presLayoutVars>
          <dgm:chMax val="0"/>
          <dgm:bulletEnabled val="1"/>
        </dgm:presLayoutVars>
      </dgm:prSet>
      <dgm:spPr/>
    </dgm:pt>
  </dgm:ptLst>
  <dgm:cxnLst>
    <dgm:cxn modelId="{1C1D2A03-6024-4E80-B240-4B1319020B0F}" type="presOf" srcId="{B54ED2CA-935E-4756-B395-DEED912F7096}" destId="{C3DF725D-36E4-4A85-97B0-86950A888D73}" srcOrd="0" destOrd="0" presId="urn:microsoft.com/office/officeart/2005/8/layout/vList2"/>
    <dgm:cxn modelId="{B2B01598-120A-4009-8EA7-3F2C2CDCFCDD}" type="presOf" srcId="{17139CA2-2F3B-4E62-87AC-8E604E8E9117}" destId="{AAA50E1F-130C-47A4-BBAC-39AFE6F3A3FD}" srcOrd="0" destOrd="0" presId="urn:microsoft.com/office/officeart/2005/8/layout/vList2"/>
    <dgm:cxn modelId="{62F161C0-4B05-4E01-9D7D-B46A55EDAA27}" srcId="{B54ED2CA-935E-4756-B395-DEED912F7096}" destId="{17139CA2-2F3B-4E62-87AC-8E604E8E9117}" srcOrd="0" destOrd="0" parTransId="{93157675-8833-457A-B39D-530834DBA90C}" sibTransId="{C8BF15BF-E186-4935-93A6-2576190C1160}"/>
    <dgm:cxn modelId="{C9316F50-312E-440B-8B37-26D4880DEE46}" type="presParOf" srcId="{C3DF725D-36E4-4A85-97B0-86950A888D73}" destId="{AAA50E1F-130C-47A4-BBAC-39AFE6F3A3FD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57DA6983-1829-4ED4-BE6C-74E30CF4815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ru-RU"/>
        </a:p>
      </dgm:t>
    </dgm:pt>
    <dgm:pt modelId="{E78B57AE-0C61-41DE-A3EE-19E687B798F9}">
      <dgm:prSet/>
      <dgm:spPr/>
      <dgm:t>
        <a:bodyPr/>
        <a:lstStyle/>
        <a:p>
          <a:r>
            <a:rPr lang="ru-RU"/>
            <a:t>Старый макет</a:t>
          </a:r>
        </a:p>
      </dgm:t>
    </dgm:pt>
    <dgm:pt modelId="{10D78ECB-A7E1-4823-921F-749E02132FBF}" type="parTrans" cxnId="{5EC66B54-CD02-4B59-9DA9-E849E7E78933}">
      <dgm:prSet/>
      <dgm:spPr/>
      <dgm:t>
        <a:bodyPr/>
        <a:lstStyle/>
        <a:p>
          <a:endParaRPr lang="ru-RU"/>
        </a:p>
      </dgm:t>
    </dgm:pt>
    <dgm:pt modelId="{B78DD7D9-3E9F-49BE-B3E9-0541D9F469DA}" type="sibTrans" cxnId="{5EC66B54-CD02-4B59-9DA9-E849E7E78933}">
      <dgm:prSet/>
      <dgm:spPr/>
      <dgm:t>
        <a:bodyPr/>
        <a:lstStyle/>
        <a:p>
          <a:endParaRPr lang="ru-RU"/>
        </a:p>
      </dgm:t>
    </dgm:pt>
    <dgm:pt modelId="{5D4B8CD0-57AB-4B62-923C-D6B0EA2D40E5}" type="pres">
      <dgm:prSet presAssocID="{57DA6983-1829-4ED4-BE6C-74E30CF48151}" presName="linear" presStyleCnt="0">
        <dgm:presLayoutVars>
          <dgm:animLvl val="lvl"/>
          <dgm:resizeHandles val="exact"/>
        </dgm:presLayoutVars>
      </dgm:prSet>
      <dgm:spPr/>
    </dgm:pt>
    <dgm:pt modelId="{A3AF0072-6E26-43D4-BCEC-71343A83E91F}" type="pres">
      <dgm:prSet presAssocID="{E78B57AE-0C61-41DE-A3EE-19E687B798F9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5EC66B54-CD02-4B59-9DA9-E849E7E78933}" srcId="{57DA6983-1829-4ED4-BE6C-74E30CF48151}" destId="{E78B57AE-0C61-41DE-A3EE-19E687B798F9}" srcOrd="0" destOrd="0" parTransId="{10D78ECB-A7E1-4823-921F-749E02132FBF}" sibTransId="{B78DD7D9-3E9F-49BE-B3E9-0541D9F469DA}"/>
    <dgm:cxn modelId="{82285C9A-036C-48BD-8889-8373F1D984AB}" type="presOf" srcId="{E78B57AE-0C61-41DE-A3EE-19E687B798F9}" destId="{A3AF0072-6E26-43D4-BCEC-71343A83E91F}" srcOrd="0" destOrd="0" presId="urn:microsoft.com/office/officeart/2005/8/layout/vList2"/>
    <dgm:cxn modelId="{607379DB-F0DA-40B0-BD90-56FB35353C9D}" type="presOf" srcId="{57DA6983-1829-4ED4-BE6C-74E30CF48151}" destId="{5D4B8CD0-57AB-4B62-923C-D6B0EA2D40E5}" srcOrd="0" destOrd="0" presId="urn:microsoft.com/office/officeart/2005/8/layout/vList2"/>
    <dgm:cxn modelId="{AAE2F04B-3475-4E31-A776-C8C16995427D}" type="presParOf" srcId="{5D4B8CD0-57AB-4B62-923C-D6B0EA2D40E5}" destId="{A3AF0072-6E26-43D4-BCEC-71343A83E91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11C731F7-9351-4223-934B-F4B640F08C2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ru-RU"/>
        </a:p>
      </dgm:t>
    </dgm:pt>
    <dgm:pt modelId="{F9AD0492-F3A5-4F42-AF41-5B958AF60E37}">
      <dgm:prSet/>
      <dgm:spPr/>
      <dgm:t>
        <a:bodyPr/>
        <a:lstStyle/>
        <a:p>
          <a:r>
            <a:rPr lang="ru-RU"/>
            <a:t>Новый макет с учётом изменения цены в следствие скидок</a:t>
          </a:r>
        </a:p>
      </dgm:t>
    </dgm:pt>
    <dgm:pt modelId="{DE64E307-AD9D-4A74-A64A-C1380AD4312D}" type="parTrans" cxnId="{4E85F22D-D04F-48D5-99B6-83131685DE83}">
      <dgm:prSet/>
      <dgm:spPr/>
      <dgm:t>
        <a:bodyPr/>
        <a:lstStyle/>
        <a:p>
          <a:endParaRPr lang="ru-RU"/>
        </a:p>
      </dgm:t>
    </dgm:pt>
    <dgm:pt modelId="{123521C9-4C2C-47DF-AF83-7B7A1A726B9C}" type="sibTrans" cxnId="{4E85F22D-D04F-48D5-99B6-83131685DE83}">
      <dgm:prSet/>
      <dgm:spPr/>
      <dgm:t>
        <a:bodyPr/>
        <a:lstStyle/>
        <a:p>
          <a:endParaRPr lang="ru-RU"/>
        </a:p>
      </dgm:t>
    </dgm:pt>
    <dgm:pt modelId="{8B29244A-4679-4BAD-A4CB-C568D8CFC36E}" type="pres">
      <dgm:prSet presAssocID="{11C731F7-9351-4223-934B-F4B640F08C26}" presName="linear" presStyleCnt="0">
        <dgm:presLayoutVars>
          <dgm:animLvl val="lvl"/>
          <dgm:resizeHandles val="exact"/>
        </dgm:presLayoutVars>
      </dgm:prSet>
      <dgm:spPr/>
    </dgm:pt>
    <dgm:pt modelId="{01450DBF-35EC-4BD5-9BAF-D9425FB703D4}" type="pres">
      <dgm:prSet presAssocID="{F9AD0492-F3A5-4F42-AF41-5B958AF60E37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4E85F22D-D04F-48D5-99B6-83131685DE83}" srcId="{11C731F7-9351-4223-934B-F4B640F08C26}" destId="{F9AD0492-F3A5-4F42-AF41-5B958AF60E37}" srcOrd="0" destOrd="0" parTransId="{DE64E307-AD9D-4A74-A64A-C1380AD4312D}" sibTransId="{123521C9-4C2C-47DF-AF83-7B7A1A726B9C}"/>
    <dgm:cxn modelId="{F71AF8A0-66EB-49EA-AE2B-6A92407FDDAE}" type="presOf" srcId="{F9AD0492-F3A5-4F42-AF41-5B958AF60E37}" destId="{01450DBF-35EC-4BD5-9BAF-D9425FB703D4}" srcOrd="0" destOrd="0" presId="urn:microsoft.com/office/officeart/2005/8/layout/vList2"/>
    <dgm:cxn modelId="{5C9AEDB8-6201-48EF-AB99-132A739CB943}" type="presOf" srcId="{11C731F7-9351-4223-934B-F4B640F08C26}" destId="{8B29244A-4679-4BAD-A4CB-C568D8CFC36E}" srcOrd="0" destOrd="0" presId="urn:microsoft.com/office/officeart/2005/8/layout/vList2"/>
    <dgm:cxn modelId="{AE1B2FE9-5094-4E61-A98E-CF204FC48511}" type="presParOf" srcId="{8B29244A-4679-4BAD-A4CB-C568D8CFC36E}" destId="{01450DBF-35EC-4BD5-9BAF-D9425FB703D4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1CEBD41E-7FB8-44C3-85A8-63DBC082025F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661A4401-879B-4919-B886-5FA97E7FAAC2}">
      <dgm:prSet phldrT="[Текст]"/>
      <dgm:spPr/>
      <dgm:t>
        <a:bodyPr/>
        <a:lstStyle/>
        <a:p>
          <a:r>
            <a:rPr lang="ru-RU" dirty="0"/>
            <a:t>38775 р.</a:t>
          </a:r>
        </a:p>
      </dgm:t>
    </dgm:pt>
    <dgm:pt modelId="{186373CF-74E7-4D25-B808-AB8C6B5C90B9}" type="parTrans" cxnId="{6AE36968-F101-4EF1-B093-E047CBAF213D}">
      <dgm:prSet/>
      <dgm:spPr/>
      <dgm:t>
        <a:bodyPr/>
        <a:lstStyle/>
        <a:p>
          <a:endParaRPr lang="ru-RU"/>
        </a:p>
      </dgm:t>
    </dgm:pt>
    <dgm:pt modelId="{7F904CAD-CD7C-4250-88E2-97DA61193C01}" type="sibTrans" cxnId="{6AE36968-F101-4EF1-B093-E047CBAF213D}">
      <dgm:prSet/>
      <dgm:spPr/>
      <dgm:t>
        <a:bodyPr/>
        <a:lstStyle/>
        <a:p>
          <a:endParaRPr lang="ru-RU"/>
        </a:p>
      </dgm:t>
    </dgm:pt>
    <dgm:pt modelId="{B875F4EC-BE9B-4C0B-ABA0-A9C193A1A063}">
      <dgm:prSet phldrT="[Текст]"/>
      <dgm:spPr/>
      <dgm:t>
        <a:bodyPr/>
        <a:lstStyle/>
        <a:p>
          <a:r>
            <a:rPr lang="ru-RU" dirty="0"/>
            <a:t>39496 р.</a:t>
          </a:r>
        </a:p>
      </dgm:t>
    </dgm:pt>
    <dgm:pt modelId="{8D5EA718-2EEF-4D3B-8546-224D2487AE39}" type="parTrans" cxnId="{4D3F81B5-2F32-49BE-8472-391C396CD4AE}">
      <dgm:prSet/>
      <dgm:spPr/>
      <dgm:t>
        <a:bodyPr/>
        <a:lstStyle/>
        <a:p>
          <a:endParaRPr lang="ru-RU"/>
        </a:p>
      </dgm:t>
    </dgm:pt>
    <dgm:pt modelId="{056FA4C6-7228-4812-A34D-91ABE65E9EB7}" type="sibTrans" cxnId="{4D3F81B5-2F32-49BE-8472-391C396CD4AE}">
      <dgm:prSet/>
      <dgm:spPr/>
      <dgm:t>
        <a:bodyPr/>
        <a:lstStyle/>
        <a:p>
          <a:endParaRPr lang="ru-RU"/>
        </a:p>
      </dgm:t>
    </dgm:pt>
    <dgm:pt modelId="{B25F2354-894C-438C-9722-9B3A0F05AF8A}" type="pres">
      <dgm:prSet presAssocID="{1CEBD41E-7FB8-44C3-85A8-63DBC082025F}" presName="CompostProcess" presStyleCnt="0">
        <dgm:presLayoutVars>
          <dgm:dir/>
          <dgm:resizeHandles val="exact"/>
        </dgm:presLayoutVars>
      </dgm:prSet>
      <dgm:spPr/>
    </dgm:pt>
    <dgm:pt modelId="{5FC519A8-07DE-4950-83BF-DB695B207154}" type="pres">
      <dgm:prSet presAssocID="{1CEBD41E-7FB8-44C3-85A8-63DBC082025F}" presName="arrow" presStyleLbl="bgShp" presStyleIdx="0" presStyleCnt="1"/>
      <dgm:spPr/>
    </dgm:pt>
    <dgm:pt modelId="{8C93F125-EC3E-4288-95A2-0D9B0AC6BFAC}" type="pres">
      <dgm:prSet presAssocID="{1CEBD41E-7FB8-44C3-85A8-63DBC082025F}" presName="linearProcess" presStyleCnt="0"/>
      <dgm:spPr/>
    </dgm:pt>
    <dgm:pt modelId="{A4A49B5E-1F7E-4168-8A3C-D04FDEE794F7}" type="pres">
      <dgm:prSet presAssocID="{661A4401-879B-4919-B886-5FA97E7FAAC2}" presName="textNode" presStyleLbl="node1" presStyleIdx="0" presStyleCnt="2" custLinFactX="-18866" custLinFactNeighborX="-100000" custLinFactNeighborY="1541">
        <dgm:presLayoutVars>
          <dgm:bulletEnabled val="1"/>
        </dgm:presLayoutVars>
      </dgm:prSet>
      <dgm:spPr/>
    </dgm:pt>
    <dgm:pt modelId="{8B46A797-0191-48D6-8865-E4DB12E24768}" type="pres">
      <dgm:prSet presAssocID="{7F904CAD-CD7C-4250-88E2-97DA61193C01}" presName="sibTrans" presStyleCnt="0"/>
      <dgm:spPr/>
    </dgm:pt>
    <dgm:pt modelId="{A34C8F2B-ED81-4E99-9281-435DB45E1E56}" type="pres">
      <dgm:prSet presAssocID="{B875F4EC-BE9B-4C0B-ABA0-A9C193A1A063}" presName="textNode" presStyleLbl="node1" presStyleIdx="1" presStyleCnt="2" custLinFactX="101696" custLinFactNeighborX="200000">
        <dgm:presLayoutVars>
          <dgm:bulletEnabled val="1"/>
        </dgm:presLayoutVars>
      </dgm:prSet>
      <dgm:spPr/>
    </dgm:pt>
  </dgm:ptLst>
  <dgm:cxnLst>
    <dgm:cxn modelId="{6AE36968-F101-4EF1-B093-E047CBAF213D}" srcId="{1CEBD41E-7FB8-44C3-85A8-63DBC082025F}" destId="{661A4401-879B-4919-B886-5FA97E7FAAC2}" srcOrd="0" destOrd="0" parTransId="{186373CF-74E7-4D25-B808-AB8C6B5C90B9}" sibTransId="{7F904CAD-CD7C-4250-88E2-97DA61193C01}"/>
    <dgm:cxn modelId="{F4D15877-E683-49CB-9F4A-830BF6D8A446}" type="presOf" srcId="{B875F4EC-BE9B-4C0B-ABA0-A9C193A1A063}" destId="{A34C8F2B-ED81-4E99-9281-435DB45E1E56}" srcOrd="0" destOrd="0" presId="urn:microsoft.com/office/officeart/2005/8/layout/hProcess9"/>
    <dgm:cxn modelId="{4F65F3A3-A9E6-45A3-BC66-1FF3CEA974C0}" type="presOf" srcId="{1CEBD41E-7FB8-44C3-85A8-63DBC082025F}" destId="{B25F2354-894C-438C-9722-9B3A0F05AF8A}" srcOrd="0" destOrd="0" presId="urn:microsoft.com/office/officeart/2005/8/layout/hProcess9"/>
    <dgm:cxn modelId="{4D3F81B5-2F32-49BE-8472-391C396CD4AE}" srcId="{1CEBD41E-7FB8-44C3-85A8-63DBC082025F}" destId="{B875F4EC-BE9B-4C0B-ABA0-A9C193A1A063}" srcOrd="1" destOrd="0" parTransId="{8D5EA718-2EEF-4D3B-8546-224D2487AE39}" sibTransId="{056FA4C6-7228-4812-A34D-91ABE65E9EB7}"/>
    <dgm:cxn modelId="{BB4879FB-95FD-4E4A-978A-96BB1FE91F68}" type="presOf" srcId="{661A4401-879B-4919-B886-5FA97E7FAAC2}" destId="{A4A49B5E-1F7E-4168-8A3C-D04FDEE794F7}" srcOrd="0" destOrd="0" presId="urn:microsoft.com/office/officeart/2005/8/layout/hProcess9"/>
    <dgm:cxn modelId="{283ED5D0-C373-4326-A1AF-4249BD22AD63}" type="presParOf" srcId="{B25F2354-894C-438C-9722-9B3A0F05AF8A}" destId="{5FC519A8-07DE-4950-83BF-DB695B207154}" srcOrd="0" destOrd="0" presId="urn:microsoft.com/office/officeart/2005/8/layout/hProcess9"/>
    <dgm:cxn modelId="{40604058-50BC-41D0-B9C4-BCCCA01ED022}" type="presParOf" srcId="{B25F2354-894C-438C-9722-9B3A0F05AF8A}" destId="{8C93F125-EC3E-4288-95A2-0D9B0AC6BFAC}" srcOrd="1" destOrd="0" presId="urn:microsoft.com/office/officeart/2005/8/layout/hProcess9"/>
    <dgm:cxn modelId="{0DB6A19F-3B9D-4D5A-A77C-3C2F8E46FE63}" type="presParOf" srcId="{8C93F125-EC3E-4288-95A2-0D9B0AC6BFAC}" destId="{A4A49B5E-1F7E-4168-8A3C-D04FDEE794F7}" srcOrd="0" destOrd="0" presId="urn:microsoft.com/office/officeart/2005/8/layout/hProcess9"/>
    <dgm:cxn modelId="{11145C5F-69E2-4EBD-8E15-7A0EF7C674B6}" type="presParOf" srcId="{8C93F125-EC3E-4288-95A2-0D9B0AC6BFAC}" destId="{8B46A797-0191-48D6-8865-E4DB12E24768}" srcOrd="1" destOrd="0" presId="urn:microsoft.com/office/officeart/2005/8/layout/hProcess9"/>
    <dgm:cxn modelId="{E4C082FE-6F5B-404F-B6CE-3A728ACACE90}" type="presParOf" srcId="{8C93F125-EC3E-4288-95A2-0D9B0AC6BFAC}" destId="{A34C8F2B-ED81-4E99-9281-435DB45E1E56}" srcOrd="2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29C4DD-947B-4FBB-94F6-6F0A6B8A8859}">
      <dsp:nvSpPr>
        <dsp:cNvPr id="0" name=""/>
        <dsp:cNvSpPr/>
      </dsp:nvSpPr>
      <dsp:spPr>
        <a:xfrm>
          <a:off x="0" y="5579"/>
          <a:ext cx="6209488" cy="4176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/>
            <a:t>Анализ торговых точек 1-4 сентября</a:t>
          </a:r>
        </a:p>
      </dsp:txBody>
      <dsp:txXfrm>
        <a:off x="20390" y="25969"/>
        <a:ext cx="6168708" cy="376910"/>
      </dsp:txXfrm>
    </dsp:sp>
    <dsp:sp modelId="{D71DA6D3-B1D5-4D64-9440-1AA88AB411F8}">
      <dsp:nvSpPr>
        <dsp:cNvPr id="0" name=""/>
        <dsp:cNvSpPr/>
      </dsp:nvSpPr>
      <dsp:spPr>
        <a:xfrm>
          <a:off x="0" y="472230"/>
          <a:ext cx="6209488" cy="4176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Анализ торговых точек 5-7 сентября</a:t>
          </a:r>
        </a:p>
      </dsp:txBody>
      <dsp:txXfrm>
        <a:off x="20390" y="492620"/>
        <a:ext cx="6168708" cy="376910"/>
      </dsp:txXfrm>
    </dsp:sp>
    <dsp:sp modelId="{0A22D7D5-FBCF-41AE-ABA2-8F01E76933AA}">
      <dsp:nvSpPr>
        <dsp:cNvPr id="0" name=""/>
        <dsp:cNvSpPr/>
      </dsp:nvSpPr>
      <dsp:spPr>
        <a:xfrm>
          <a:off x="0" y="938880"/>
          <a:ext cx="6209488" cy="4176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/>
            <a:t>Дашборды</a:t>
          </a:r>
        </a:p>
      </dsp:txBody>
      <dsp:txXfrm>
        <a:off x="20390" y="959270"/>
        <a:ext cx="6168708" cy="376910"/>
      </dsp:txXfrm>
    </dsp:sp>
    <dsp:sp modelId="{A144E823-7212-4896-894A-1704E78934AA}">
      <dsp:nvSpPr>
        <dsp:cNvPr id="0" name=""/>
        <dsp:cNvSpPr/>
      </dsp:nvSpPr>
      <dsp:spPr>
        <a:xfrm>
          <a:off x="0" y="1405530"/>
          <a:ext cx="6209488" cy="4176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/>
            <a:t>Корректировка калькулятора</a:t>
          </a:r>
        </a:p>
      </dsp:txBody>
      <dsp:txXfrm>
        <a:off x="20390" y="1425920"/>
        <a:ext cx="6168708" cy="3769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17491C-1366-4C5C-B815-EED2CBE76838}">
      <dsp:nvSpPr>
        <dsp:cNvPr id="0" name=""/>
        <dsp:cNvSpPr/>
      </dsp:nvSpPr>
      <dsp:spPr>
        <a:xfrm>
          <a:off x="0" y="4925"/>
          <a:ext cx="6094378" cy="636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/>
            <a:t>После открытия точки на ул. Чертановской произошла каннибализация точки на Симферопольском б-ре</a:t>
          </a:r>
        </a:p>
      </dsp:txBody>
      <dsp:txXfrm>
        <a:off x="31070" y="35995"/>
        <a:ext cx="6032238" cy="5743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18AE39-8275-4890-A81A-CCC68BA91627}">
      <dsp:nvSpPr>
        <dsp:cNvPr id="0" name=""/>
        <dsp:cNvSpPr/>
      </dsp:nvSpPr>
      <dsp:spPr>
        <a:xfrm>
          <a:off x="0" y="21744"/>
          <a:ext cx="6094378" cy="879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/>
            <a:t>Перенос точки </a:t>
          </a:r>
          <a:r>
            <a:rPr lang="ru-RU" sz="1600" kern="1200" baseline="0"/>
            <a:t>Ракетный б-р, 14к1 </a:t>
          </a:r>
          <a:r>
            <a:rPr lang="ru-RU" sz="1600" kern="1200"/>
            <a:t> с 3-его на 1-ый сервер позволит снизить загруженность 3-его сервера, что позволит проводить операции быстрее</a:t>
          </a:r>
        </a:p>
      </dsp:txBody>
      <dsp:txXfrm>
        <a:off x="42950" y="64694"/>
        <a:ext cx="6008478" cy="79394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C88CA4-D4D3-44B3-8E3A-C8131DF5AE1A}">
      <dsp:nvSpPr>
        <dsp:cNvPr id="0" name=""/>
        <dsp:cNvSpPr/>
      </dsp:nvSpPr>
      <dsp:spPr>
        <a:xfrm>
          <a:off x="0" y="132019"/>
          <a:ext cx="3786167" cy="12132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/>
            <a:t>ТТ по адресу ракетный б-р показывает значительный скачков длительности транзакций в районе 3-5 часов утра</a:t>
          </a:r>
        </a:p>
      </dsp:txBody>
      <dsp:txXfrm>
        <a:off x="59228" y="191247"/>
        <a:ext cx="3667711" cy="109483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A135CF-8418-4C40-8A42-0862AA7144A1}">
      <dsp:nvSpPr>
        <dsp:cNvPr id="0" name=""/>
        <dsp:cNvSpPr/>
      </dsp:nvSpPr>
      <dsp:spPr>
        <a:xfrm>
          <a:off x="0" y="2733"/>
          <a:ext cx="3786167" cy="14718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/>
            <a:t>ТТ по адресу Ленинский пр-т и пр-т Вернадского показывают увеличение длительности транзакций в районе 11-15 часов дня</a:t>
          </a:r>
        </a:p>
      </dsp:txBody>
      <dsp:txXfrm>
        <a:off x="71850" y="74583"/>
        <a:ext cx="3642467" cy="132816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35826A-FA22-48D2-B058-9A7FAC491DD6}">
      <dsp:nvSpPr>
        <dsp:cNvPr id="0" name=""/>
        <dsp:cNvSpPr/>
      </dsp:nvSpPr>
      <dsp:spPr>
        <a:xfrm>
          <a:off x="0" y="160244"/>
          <a:ext cx="3786167" cy="879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/>
            <a:t>ТТ по адресу Симферопольский б-р и ул. Чертановская в течение всего дня показывают большую загруженность</a:t>
          </a:r>
        </a:p>
      </dsp:txBody>
      <dsp:txXfrm>
        <a:off x="42950" y="203194"/>
        <a:ext cx="3700267" cy="79394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230C96-4BF5-43AC-A8E2-0358BF2981B9}">
      <dsp:nvSpPr>
        <dsp:cNvPr id="0" name=""/>
        <dsp:cNvSpPr/>
      </dsp:nvSpPr>
      <dsp:spPr>
        <a:xfrm>
          <a:off x="0" y="48661"/>
          <a:ext cx="3265737" cy="15584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ТТ по адресу Ленинский пр-т показывает увеличение количества транзакций до 15 часов в связи с проводимой акцией</a:t>
          </a:r>
        </a:p>
      </dsp:txBody>
      <dsp:txXfrm>
        <a:off x="76077" y="124738"/>
        <a:ext cx="3113583" cy="140628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D671B1-CAA9-4B39-BF65-E3549801D701}">
      <dsp:nvSpPr>
        <dsp:cNvPr id="0" name=""/>
        <dsp:cNvSpPr/>
      </dsp:nvSpPr>
      <dsp:spPr>
        <a:xfrm>
          <a:off x="0" y="29204"/>
          <a:ext cx="5650147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В следствие проблем с подключением к сети Интернет до 6 утра в Солнцевском районе Москвы произошло увеличение средней длительности транзакции на сервере №1</a:t>
          </a:r>
        </a:p>
      </dsp:txBody>
      <dsp:txXfrm>
        <a:off x="55744" y="84948"/>
        <a:ext cx="5538659" cy="103043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EB4AF0-A6DA-40A8-8C4B-9A6608AE488F}">
      <dsp:nvSpPr>
        <dsp:cNvPr id="0" name=""/>
        <dsp:cNvSpPr/>
      </dsp:nvSpPr>
      <dsp:spPr>
        <a:xfrm>
          <a:off x="0" y="4925"/>
          <a:ext cx="5650147" cy="636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В результате проводимой акции загруженность сервера №2 выросла в период с 11 до 15 часов</a:t>
          </a:r>
        </a:p>
      </dsp:txBody>
      <dsp:txXfrm>
        <a:off x="31070" y="35995"/>
        <a:ext cx="5588007" cy="57434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72E528-F8E8-4523-83B3-90A5C99D497F}">
      <dsp:nvSpPr>
        <dsp:cNvPr id="0" name=""/>
        <dsp:cNvSpPr/>
      </dsp:nvSpPr>
      <dsp:spPr>
        <a:xfrm>
          <a:off x="0" y="21744"/>
          <a:ext cx="5880208" cy="879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/>
            <a:t>Средняя длительность транзакций по всем платёжным системам увеличивается с 11 до 15 часов в следствие увеличения числа пользователей</a:t>
          </a:r>
        </a:p>
      </dsp:txBody>
      <dsp:txXfrm>
        <a:off x="42950" y="64694"/>
        <a:ext cx="5794308" cy="79394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90806A-E205-482E-951D-9FEB29B2785C}">
      <dsp:nvSpPr>
        <dsp:cNvPr id="0" name=""/>
        <dsp:cNvSpPr/>
      </dsp:nvSpPr>
      <dsp:spPr>
        <a:xfrm>
          <a:off x="5116748" y="1684889"/>
          <a:ext cx="3620137" cy="6282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4144"/>
              </a:lnTo>
              <a:lnTo>
                <a:pt x="3620137" y="314144"/>
              </a:lnTo>
              <a:lnTo>
                <a:pt x="3620137" y="62828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00935D-BE94-4EF9-BE61-4EF5CD2C0958}">
      <dsp:nvSpPr>
        <dsp:cNvPr id="0" name=""/>
        <dsp:cNvSpPr/>
      </dsp:nvSpPr>
      <dsp:spPr>
        <a:xfrm>
          <a:off x="5071028" y="1684889"/>
          <a:ext cx="91440" cy="62828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2828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CB72162-4171-4558-9BD0-E630C9B58EF4}">
      <dsp:nvSpPr>
        <dsp:cNvPr id="0" name=""/>
        <dsp:cNvSpPr/>
      </dsp:nvSpPr>
      <dsp:spPr>
        <a:xfrm>
          <a:off x="1496611" y="1684889"/>
          <a:ext cx="3620137" cy="628288"/>
        </a:xfrm>
        <a:custGeom>
          <a:avLst/>
          <a:gdLst/>
          <a:ahLst/>
          <a:cxnLst/>
          <a:rect l="0" t="0" r="0" b="0"/>
          <a:pathLst>
            <a:path>
              <a:moveTo>
                <a:pt x="3620137" y="0"/>
              </a:moveTo>
              <a:lnTo>
                <a:pt x="3620137" y="314144"/>
              </a:lnTo>
              <a:lnTo>
                <a:pt x="0" y="314144"/>
              </a:lnTo>
              <a:lnTo>
                <a:pt x="0" y="62828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4A63A12-2E49-4D86-A343-3EBA4D6B1275}">
      <dsp:nvSpPr>
        <dsp:cNvPr id="0" name=""/>
        <dsp:cNvSpPr/>
      </dsp:nvSpPr>
      <dsp:spPr>
        <a:xfrm>
          <a:off x="3620824" y="188965"/>
          <a:ext cx="2991848" cy="14959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/>
            <a:t>Для предотвращения проблем в будущем необходимо: </a:t>
          </a:r>
        </a:p>
      </dsp:txBody>
      <dsp:txXfrm>
        <a:off x="3620824" y="188965"/>
        <a:ext cx="2991848" cy="1495924"/>
      </dsp:txXfrm>
    </dsp:sp>
    <dsp:sp modelId="{24BDA6E4-3CA0-4266-91DE-13A3191026AF}">
      <dsp:nvSpPr>
        <dsp:cNvPr id="0" name=""/>
        <dsp:cNvSpPr/>
      </dsp:nvSpPr>
      <dsp:spPr>
        <a:xfrm>
          <a:off x="687" y="2313178"/>
          <a:ext cx="2991848" cy="14959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/>
            <a:t>Увеличение количества касс по адресу Ленинский пр-т; </a:t>
          </a:r>
        </a:p>
      </dsp:txBody>
      <dsp:txXfrm>
        <a:off x="687" y="2313178"/>
        <a:ext cx="2991848" cy="1495924"/>
      </dsp:txXfrm>
    </dsp:sp>
    <dsp:sp modelId="{B6527DAB-D3EC-4311-93D9-6E13D1397FB1}">
      <dsp:nvSpPr>
        <dsp:cNvPr id="0" name=""/>
        <dsp:cNvSpPr/>
      </dsp:nvSpPr>
      <dsp:spPr>
        <a:xfrm>
          <a:off x="3620824" y="2313178"/>
          <a:ext cx="2991848" cy="14959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/>
            <a:t>Снизить загруженность сервера №1(например, увеличив нагрузку на сервер №2);  </a:t>
          </a:r>
        </a:p>
      </dsp:txBody>
      <dsp:txXfrm>
        <a:off x="3620824" y="2313178"/>
        <a:ext cx="2991848" cy="1495924"/>
      </dsp:txXfrm>
    </dsp:sp>
    <dsp:sp modelId="{0DBB209B-3B47-4BF3-9DEA-5D815673FD92}">
      <dsp:nvSpPr>
        <dsp:cNvPr id="0" name=""/>
        <dsp:cNvSpPr/>
      </dsp:nvSpPr>
      <dsp:spPr>
        <a:xfrm>
          <a:off x="7240961" y="2313178"/>
          <a:ext cx="2991848" cy="14959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/>
            <a:t>Увеличить время акции до полного дня, чтобы снизить общую загруженность </a:t>
          </a:r>
        </a:p>
      </dsp:txBody>
      <dsp:txXfrm>
        <a:off x="7240961" y="2313178"/>
        <a:ext cx="2991848" cy="1495924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EB67E2-721C-4119-84A4-6B8A3CE8EEA3}">
      <dsp:nvSpPr>
        <dsp:cNvPr id="0" name=""/>
        <dsp:cNvSpPr/>
      </dsp:nvSpPr>
      <dsp:spPr>
        <a:xfrm>
          <a:off x="0" y="21744"/>
          <a:ext cx="5256988" cy="879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/>
            <a:t>Из-за сбоя в работе 1 сервера в период 05.09 с 00:00 до 9:00 средняя длительность проведения транзакций увеличилась на 43%</a:t>
          </a:r>
        </a:p>
      </dsp:txBody>
      <dsp:txXfrm>
        <a:off x="42950" y="64694"/>
        <a:ext cx="5171088" cy="79394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258733-6082-481D-B754-B1CCF66F8733}">
      <dsp:nvSpPr>
        <dsp:cNvPr id="0" name=""/>
        <dsp:cNvSpPr/>
      </dsp:nvSpPr>
      <dsp:spPr>
        <a:xfrm>
          <a:off x="0" y="160244"/>
          <a:ext cx="5791200" cy="879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/>
            <a:t>Из-за сбоя в работе 1 сервера 06.09 в течение всего дня заметно увеличение длительности транзакций у клиентов на кассах самообслуживания с картой лояльности на 24%</a:t>
          </a:r>
        </a:p>
      </dsp:txBody>
      <dsp:txXfrm>
        <a:off x="42950" y="203194"/>
        <a:ext cx="5705300" cy="79394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04D35F-F9D8-484B-80EC-C7EE9F4DCF4B}">
      <dsp:nvSpPr>
        <dsp:cNvPr id="0" name=""/>
        <dsp:cNvSpPr/>
      </dsp:nvSpPr>
      <dsp:spPr>
        <a:xfrm>
          <a:off x="0" y="21744"/>
          <a:ext cx="6094378" cy="879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Из-за сбоя в работе 2 сервера в период 12:00-13:00 в день 07.09 средняя длительность проведения транзакций на обычных кассах увеличилась на 69%</a:t>
          </a:r>
        </a:p>
      </dsp:txBody>
      <dsp:txXfrm>
        <a:off x="42950" y="64694"/>
        <a:ext cx="6008478" cy="793940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7467EA-F449-4044-A75D-959DC3B07D3E}">
      <dsp:nvSpPr>
        <dsp:cNvPr id="0" name=""/>
        <dsp:cNvSpPr/>
      </dsp:nvSpPr>
      <dsp:spPr>
        <a:xfrm>
          <a:off x="0" y="313"/>
          <a:ext cx="4804654" cy="6192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В результате акции отмечается увеличение среднего чека на 8%</a:t>
          </a:r>
        </a:p>
      </dsp:txBody>
      <dsp:txXfrm>
        <a:off x="30228" y="30541"/>
        <a:ext cx="4744198" cy="558775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F1FA77-D13D-438B-9DBC-2CCFA6E93F4A}">
      <dsp:nvSpPr>
        <dsp:cNvPr id="0" name=""/>
        <dsp:cNvSpPr/>
      </dsp:nvSpPr>
      <dsp:spPr>
        <a:xfrm>
          <a:off x="0" y="326"/>
          <a:ext cx="5790389" cy="9226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На графике отмечено, что прибыль, полученная в результате акции, превалирует над затратами, что свидетельствует об успехе акции</a:t>
          </a:r>
        </a:p>
      </dsp:txBody>
      <dsp:txXfrm>
        <a:off x="45041" y="45367"/>
        <a:ext cx="5700307" cy="832595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A50E1F-130C-47A4-BBAC-39AFE6F3A3FD}">
      <dsp:nvSpPr>
        <dsp:cNvPr id="0" name=""/>
        <dsp:cNvSpPr/>
      </dsp:nvSpPr>
      <dsp:spPr>
        <a:xfrm>
          <a:off x="0" y="0"/>
          <a:ext cx="6848273" cy="56866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Изменив программу лояльности таким образом,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чтобы снизить скидку на 1% удастся сэкономить 176876 рублей </a:t>
          </a:r>
        </a:p>
      </dsp:txBody>
      <dsp:txXfrm>
        <a:off x="27760" y="27760"/>
        <a:ext cx="6792753" cy="513141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AF0072-6E26-43D4-BCEC-71343A83E91F}">
      <dsp:nvSpPr>
        <dsp:cNvPr id="0" name=""/>
        <dsp:cNvSpPr/>
      </dsp:nvSpPr>
      <dsp:spPr>
        <a:xfrm>
          <a:off x="0" y="391"/>
          <a:ext cx="1627369" cy="368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/>
            <a:t>Старый макет</a:t>
          </a:r>
        </a:p>
      </dsp:txBody>
      <dsp:txXfrm>
        <a:off x="17991" y="18382"/>
        <a:ext cx="1591387" cy="332567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450DBF-35EC-4BD5-9BAF-D9425FB703D4}">
      <dsp:nvSpPr>
        <dsp:cNvPr id="0" name=""/>
        <dsp:cNvSpPr/>
      </dsp:nvSpPr>
      <dsp:spPr>
        <a:xfrm>
          <a:off x="0" y="391"/>
          <a:ext cx="6327373" cy="368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/>
            <a:t>Новый макет с учётом изменения цены в следствие скидок</a:t>
          </a:r>
        </a:p>
      </dsp:txBody>
      <dsp:txXfrm>
        <a:off x="17991" y="18382"/>
        <a:ext cx="6291391" cy="332567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C519A8-07DE-4950-83BF-DB695B207154}">
      <dsp:nvSpPr>
        <dsp:cNvPr id="0" name=""/>
        <dsp:cNvSpPr/>
      </dsp:nvSpPr>
      <dsp:spPr>
        <a:xfrm>
          <a:off x="513620" y="0"/>
          <a:ext cx="5821031" cy="1578483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A49B5E-1F7E-4168-8A3C-D04FDEE794F7}">
      <dsp:nvSpPr>
        <dsp:cNvPr id="0" name=""/>
        <dsp:cNvSpPr/>
      </dsp:nvSpPr>
      <dsp:spPr>
        <a:xfrm>
          <a:off x="528123" y="483274"/>
          <a:ext cx="2054481" cy="6313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kern="1200" dirty="0"/>
            <a:t>38775 р.</a:t>
          </a:r>
        </a:p>
      </dsp:txBody>
      <dsp:txXfrm>
        <a:off x="558945" y="514096"/>
        <a:ext cx="1992837" cy="569749"/>
      </dsp:txXfrm>
    </dsp:sp>
    <dsp:sp modelId="{A34C8F2B-ED81-4E99-9281-435DB45E1E56}">
      <dsp:nvSpPr>
        <dsp:cNvPr id="0" name=""/>
        <dsp:cNvSpPr/>
      </dsp:nvSpPr>
      <dsp:spPr>
        <a:xfrm>
          <a:off x="4793790" y="473544"/>
          <a:ext cx="2054481" cy="6313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kern="1200" dirty="0"/>
            <a:t>39496 р.</a:t>
          </a:r>
        </a:p>
      </dsp:txBody>
      <dsp:txXfrm>
        <a:off x="4824612" y="504366"/>
        <a:ext cx="1992837" cy="5697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DAE791-5402-419E-B873-880FDFBE479D}" type="datetimeFigureOut">
              <a:rPr lang="ru-RU" smtClean="0"/>
              <a:t>02.11.2025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CC08E6-7282-4E64-B4DB-69F0C3E6DF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3522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CC08E6-7282-4E64-B4DB-69F0C3E6DF00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5372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5DF8A9-8F45-E0C5-4623-A946801203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2B56E6F-62C8-59C1-5095-8659D80EBA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CE93D71-39C5-C602-56E6-89C7A293C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19E7C-6E41-41BD-82EB-850CB5D64AA6}" type="datetimeFigureOut">
              <a:rPr lang="ru-RU" smtClean="0"/>
              <a:t>02.11.2025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F63170-5FDC-1208-4726-CC332A341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B40B639-3F3A-56E3-170F-3F2BC37C8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0EB4-2D28-48E8-B88B-F8343C89F7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3379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A8310C-701C-B36E-A339-61C3CDF3F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ABCFB37-4226-4A25-2086-6CC585E29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338971-0DAE-30F1-49BB-8D84EABC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19E7C-6E41-41BD-82EB-850CB5D64AA6}" type="datetimeFigureOut">
              <a:rPr lang="ru-RU" smtClean="0"/>
              <a:t>02.11.2025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4B41EC2-33FD-938A-63B8-A2B92D463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453E4E9-295F-87F5-2BD4-9EDA17256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0EB4-2D28-48E8-B88B-F8343C89F7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6107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945097-97B9-D7C9-972C-7D5AA3B65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A2AE736-9D07-E7F7-C608-F57893B2D9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F86FDFC-63CA-59E4-9CA5-1933F426B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19E7C-6E41-41BD-82EB-850CB5D64AA6}" type="datetimeFigureOut">
              <a:rPr lang="ru-RU" smtClean="0"/>
              <a:t>02.11.2025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58AD025-6BBF-AB11-D08F-2F464B593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93121A-7210-3BC4-05E9-3EE17418D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0EB4-2D28-48E8-B88B-F8343C89F7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7630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A4AC79-2245-F85C-5A5A-DA36D5C0A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FCBE58-39D5-0DCD-162E-DBFBB84A0F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784649A-E6E5-F8EB-2F56-AF05E8C39F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894BE4A-0677-5E96-8F96-D01B18C87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19E7C-6E41-41BD-82EB-850CB5D64AA6}" type="datetimeFigureOut">
              <a:rPr lang="ru-RU" smtClean="0"/>
              <a:t>02.11.2025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AFC671A-3D8D-DC07-E0F3-ED7608AF0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04A13AB-39B1-7BFC-9ED4-7CB2B7318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0EB4-2D28-48E8-B88B-F8343C89F7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0026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919A8B-659F-470D-D223-1C01E2D10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64E02E4-949A-EFEB-2E6F-4286CBEF08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C133A57-941B-FB84-B7CE-C0CA9374A3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081905E-3F2B-B1E5-7386-109584CFF1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04517DC-BEF7-2B58-2C88-C4DDCE9972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A9A44FE-917F-F2D0-505E-92F99D9AF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19E7C-6E41-41BD-82EB-850CB5D64AA6}" type="datetimeFigureOut">
              <a:rPr lang="ru-RU" smtClean="0"/>
              <a:t>02.11.2025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F552022-99AE-BAD5-A62F-101662050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7D2CE4B-A4F8-0153-710E-58741120A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0EB4-2D28-48E8-B88B-F8343C89F7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9878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418F39-77ED-AC89-E1DF-23908B143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B134295-ACF0-7DF4-E810-F40DCD506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19E7C-6E41-41BD-82EB-850CB5D64AA6}" type="datetimeFigureOut">
              <a:rPr lang="ru-RU" smtClean="0"/>
              <a:t>02.11.2025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ED7147C-80F3-877E-8EDA-294C47082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7515838-A0E9-C3AD-AC8C-81C82E36C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0EB4-2D28-48E8-B88B-F8343C89F7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3613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74A300D-FEB9-5EF5-6C6B-01699CE54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19E7C-6E41-41BD-82EB-850CB5D64AA6}" type="datetimeFigureOut">
              <a:rPr lang="ru-RU" smtClean="0"/>
              <a:t>02.11.2025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1CB8A72-0C1D-E315-BCD0-7914D25E5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5C0CC95-1581-A668-5A63-0751EB4CA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0EB4-2D28-48E8-B88B-F8343C89F7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9863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A123FD-0730-183A-7D41-67C754558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0A78D8-9D0B-1D87-E718-50BE0714C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6255DEC-64C8-8473-AD94-CED9964273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800C57F-9A97-1C3E-5E19-FB6F1C3A7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19E7C-6E41-41BD-82EB-850CB5D64AA6}" type="datetimeFigureOut">
              <a:rPr lang="ru-RU" smtClean="0"/>
              <a:t>02.11.2025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E0BEDC3-7171-3935-E6C5-9BB29EE1A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DB5AAC7-F490-E252-FA86-C5B833806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0EB4-2D28-48E8-B88B-F8343C89F7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1509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1EEC84-3CA8-30BF-CA0D-51D40CB4E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BC3D909-144A-CC54-5C4E-B6C7BEE77C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ADC55E8-2D74-DFBB-854B-620DB83568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E0EDBBB-1868-6664-02A5-18D59A8F7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19E7C-6E41-41BD-82EB-850CB5D64AA6}" type="datetimeFigureOut">
              <a:rPr lang="ru-RU" smtClean="0"/>
              <a:t>02.11.2025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569982F-849D-946E-E611-A5065FA4E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ABBEBEC-C75D-CC1A-F84D-124AB1AEB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0EB4-2D28-48E8-B88B-F8343C89F7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3662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93467E-50F7-E0B6-5F2C-4B3486D6E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CF85999-6FC8-5068-7D3D-7A9142DB01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1F32CD8-DE7A-13F2-957F-583C3A811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19E7C-6E41-41BD-82EB-850CB5D64AA6}" type="datetimeFigureOut">
              <a:rPr lang="ru-RU" smtClean="0"/>
              <a:t>02.11.2025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02587D-6883-315A-DE6F-0DFBBB829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10CFCBF-720B-7C3F-1368-E79D30E52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0EB4-2D28-48E8-B88B-F8343C89F7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173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43A1342-E716-8735-33DC-9B19FC85BD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85BAAB3-BFF0-1A4B-8A99-90CD6D224D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1C18CCB-E96F-4CAD-FF1D-578F654E3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19E7C-6E41-41BD-82EB-850CB5D64AA6}" type="datetimeFigureOut">
              <a:rPr lang="ru-RU" smtClean="0"/>
              <a:t>02.11.2025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2318614-5443-6E96-D631-C3A6DF01B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A323470-AD52-A9EE-9898-5EBCFAE5C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0EB4-2D28-48E8-B88B-F8343C89F7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5139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2BE518-3679-27D2-9070-C5B344234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D3BC81D-9F5E-41F6-068E-483D4B235F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B5A9A0-EC66-4654-B5CD-F3FC007811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619E7C-6E41-41BD-82EB-850CB5D64AA6}" type="datetimeFigureOut">
              <a:rPr lang="ru-RU" smtClean="0"/>
              <a:t>02.11.2025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0223873-6AA0-74CC-811E-C3539F9737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0EFD1AB-412C-0AF7-596F-08C21B6307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5A0EB4-2D28-48E8-B88B-F8343C89F7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4209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chart" Target="../charts/chart3.xml"/><Relationship Id="rId7" Type="http://schemas.openxmlformats.org/officeDocument/2006/relationships/diagramColors" Target="../diagrams/colors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5.xml"/><Relationship Id="rId13" Type="http://schemas.openxmlformats.org/officeDocument/2006/relationships/diagramData" Target="../diagrams/data6.xml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12" Type="http://schemas.microsoft.com/office/2007/relationships/diagramDrawing" Target="../diagrams/drawing5.xml"/><Relationship Id="rId17" Type="http://schemas.microsoft.com/office/2007/relationships/diagramDrawing" Target="../diagrams/drawing6.xml"/><Relationship Id="rId2" Type="http://schemas.openxmlformats.org/officeDocument/2006/relationships/chart" Target="../charts/chart4.xml"/><Relationship Id="rId16" Type="http://schemas.openxmlformats.org/officeDocument/2006/relationships/diagramColors" Target="../diagrams/colors6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4.xml"/><Relationship Id="rId11" Type="http://schemas.openxmlformats.org/officeDocument/2006/relationships/diagramColors" Target="../diagrams/colors5.xml"/><Relationship Id="rId5" Type="http://schemas.openxmlformats.org/officeDocument/2006/relationships/diagramQuickStyle" Target="../diagrams/quickStyle4.xml"/><Relationship Id="rId15" Type="http://schemas.openxmlformats.org/officeDocument/2006/relationships/diagramQuickStyle" Target="../diagrams/quickStyle6.xml"/><Relationship Id="rId10" Type="http://schemas.openxmlformats.org/officeDocument/2006/relationships/diagramQuickStyle" Target="../diagrams/quickStyle5.xml"/><Relationship Id="rId4" Type="http://schemas.openxmlformats.org/officeDocument/2006/relationships/diagramLayout" Target="../diagrams/layout4.xml"/><Relationship Id="rId9" Type="http://schemas.openxmlformats.org/officeDocument/2006/relationships/diagramLayout" Target="../diagrams/layout5.xml"/><Relationship Id="rId14" Type="http://schemas.openxmlformats.org/officeDocument/2006/relationships/diagramLayout" Target="../diagrams/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7" Type="http://schemas.openxmlformats.org/officeDocument/2006/relationships/chart" Target="../charts/chart5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8.xml"/><Relationship Id="rId13" Type="http://schemas.microsoft.com/office/2007/relationships/diagramDrawing" Target="../diagrams/drawing9.xml"/><Relationship Id="rId18" Type="http://schemas.microsoft.com/office/2007/relationships/diagramDrawing" Target="../diagrams/drawing10.xml"/><Relationship Id="rId3" Type="http://schemas.openxmlformats.org/officeDocument/2006/relationships/chart" Target="../charts/chart7.xml"/><Relationship Id="rId7" Type="http://schemas.openxmlformats.org/officeDocument/2006/relationships/diagramColors" Target="../diagrams/colors8.xml"/><Relationship Id="rId12" Type="http://schemas.openxmlformats.org/officeDocument/2006/relationships/diagramColors" Target="../diagrams/colors9.xml"/><Relationship Id="rId17" Type="http://schemas.openxmlformats.org/officeDocument/2006/relationships/diagramColors" Target="../diagrams/colors10.xml"/><Relationship Id="rId2" Type="http://schemas.openxmlformats.org/officeDocument/2006/relationships/chart" Target="../charts/chart6.xml"/><Relationship Id="rId16" Type="http://schemas.openxmlformats.org/officeDocument/2006/relationships/diagramQuickStyle" Target="../diagrams/quickStyle10.xml"/><Relationship Id="rId1" Type="http://schemas.openxmlformats.org/officeDocument/2006/relationships/slideLayout" Target="../slideLayouts/slideLayout4.xml"/><Relationship Id="rId6" Type="http://schemas.openxmlformats.org/officeDocument/2006/relationships/diagramQuickStyle" Target="../diagrams/quickStyle8.xml"/><Relationship Id="rId11" Type="http://schemas.openxmlformats.org/officeDocument/2006/relationships/diagramQuickStyle" Target="../diagrams/quickStyle9.xml"/><Relationship Id="rId5" Type="http://schemas.openxmlformats.org/officeDocument/2006/relationships/diagramLayout" Target="../diagrams/layout8.xml"/><Relationship Id="rId15" Type="http://schemas.openxmlformats.org/officeDocument/2006/relationships/diagramLayout" Target="../diagrams/layout10.xml"/><Relationship Id="rId10" Type="http://schemas.openxmlformats.org/officeDocument/2006/relationships/diagramLayout" Target="../diagrams/layout9.xml"/><Relationship Id="rId4" Type="http://schemas.openxmlformats.org/officeDocument/2006/relationships/diagramData" Target="../diagrams/data8.xml"/><Relationship Id="rId9" Type="http://schemas.openxmlformats.org/officeDocument/2006/relationships/diagramData" Target="../diagrams/data9.xml"/><Relationship Id="rId14" Type="http://schemas.openxmlformats.org/officeDocument/2006/relationships/diagramData" Target="../diagrams/data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2.xml"/><Relationship Id="rId13" Type="http://schemas.microsoft.com/office/2007/relationships/diagramDrawing" Target="../diagrams/drawing13.xml"/><Relationship Id="rId3" Type="http://schemas.openxmlformats.org/officeDocument/2006/relationships/chart" Target="../charts/chart9.xml"/><Relationship Id="rId7" Type="http://schemas.openxmlformats.org/officeDocument/2006/relationships/diagramColors" Target="../diagrams/colors12.xml"/><Relationship Id="rId12" Type="http://schemas.openxmlformats.org/officeDocument/2006/relationships/diagramColors" Target="../diagrams/colors13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4.xml"/><Relationship Id="rId6" Type="http://schemas.openxmlformats.org/officeDocument/2006/relationships/diagramQuickStyle" Target="../diagrams/quickStyle12.xml"/><Relationship Id="rId11" Type="http://schemas.openxmlformats.org/officeDocument/2006/relationships/diagramQuickStyle" Target="../diagrams/quickStyle13.xml"/><Relationship Id="rId5" Type="http://schemas.openxmlformats.org/officeDocument/2006/relationships/diagramLayout" Target="../diagrams/layout12.xml"/><Relationship Id="rId10" Type="http://schemas.openxmlformats.org/officeDocument/2006/relationships/diagramLayout" Target="../diagrams/layout13.xml"/><Relationship Id="rId4" Type="http://schemas.openxmlformats.org/officeDocument/2006/relationships/diagramData" Target="../diagrams/data12.xml"/><Relationship Id="rId9" Type="http://schemas.openxmlformats.org/officeDocument/2006/relationships/diagramData" Target="../diagrams/data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6.xml"/><Relationship Id="rId13" Type="http://schemas.openxmlformats.org/officeDocument/2006/relationships/chart" Target="../charts/chart12.xml"/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12" Type="http://schemas.microsoft.com/office/2007/relationships/diagramDrawing" Target="../diagrams/drawing16.xml"/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5.xml"/><Relationship Id="rId11" Type="http://schemas.openxmlformats.org/officeDocument/2006/relationships/diagramColors" Target="../diagrams/colors16.xml"/><Relationship Id="rId5" Type="http://schemas.openxmlformats.org/officeDocument/2006/relationships/diagramQuickStyle" Target="../diagrams/quickStyle15.xml"/><Relationship Id="rId10" Type="http://schemas.openxmlformats.org/officeDocument/2006/relationships/diagramQuickStyle" Target="../diagrams/quickStyle16.xml"/><Relationship Id="rId4" Type="http://schemas.openxmlformats.org/officeDocument/2006/relationships/diagramLayout" Target="../diagrams/layout15.xml"/><Relationship Id="rId9" Type="http://schemas.openxmlformats.org/officeDocument/2006/relationships/diagramLayout" Target="../diagrams/layout16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7.xml"/><Relationship Id="rId3" Type="http://schemas.openxmlformats.org/officeDocument/2006/relationships/chart" Target="../charts/chart13.xml"/><Relationship Id="rId7" Type="http://schemas.openxmlformats.org/officeDocument/2006/relationships/diagramQuickStyle" Target="../diagrams/quickStyle17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diagramLayout" Target="../diagrams/layout17.xml"/><Relationship Id="rId5" Type="http://schemas.openxmlformats.org/officeDocument/2006/relationships/diagramData" Target="../diagrams/data17.xml"/><Relationship Id="rId4" Type="http://schemas.openxmlformats.org/officeDocument/2006/relationships/chart" Target="../charts/chart14.xml"/><Relationship Id="rId9" Type="http://schemas.microsoft.com/office/2007/relationships/diagramDrawing" Target="../diagrams/drawing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8.xml"/><Relationship Id="rId7" Type="http://schemas.microsoft.com/office/2007/relationships/diagramDrawing" Target="../diagrams/drawing18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8.xml"/><Relationship Id="rId5" Type="http://schemas.openxmlformats.org/officeDocument/2006/relationships/diagramQuickStyle" Target="../diagrams/quickStyle18.xml"/><Relationship Id="rId4" Type="http://schemas.openxmlformats.org/officeDocument/2006/relationships/diagramLayout" Target="../diagrams/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9.xml"/><Relationship Id="rId7" Type="http://schemas.microsoft.com/office/2007/relationships/diagramDrawing" Target="../diagrams/drawing19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9.xml"/><Relationship Id="rId5" Type="http://schemas.openxmlformats.org/officeDocument/2006/relationships/diagramQuickStyle" Target="../diagrams/quickStyle19.xml"/><Relationship Id="rId4" Type="http://schemas.openxmlformats.org/officeDocument/2006/relationships/diagramLayout" Target="../diagrams/layout1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4448F3-FEC2-6F5A-CE04-D0C4BB5226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Курсовая работа</a:t>
            </a:r>
            <a:br>
              <a:rPr lang="ru-RU" dirty="0"/>
            </a:br>
            <a:r>
              <a:rPr lang="ru-RU" dirty="0"/>
              <a:t>Анализ </a:t>
            </a:r>
            <a:r>
              <a:rPr lang="en-US" dirty="0" err="1"/>
              <a:t>SkyCrossroads</a:t>
            </a:r>
            <a:br>
              <a:rPr lang="en-US" dirty="0"/>
            </a:br>
            <a:r>
              <a:rPr lang="en-US" dirty="0"/>
              <a:t>1-7 </a:t>
            </a:r>
            <a:r>
              <a:rPr lang="ru-RU" dirty="0"/>
              <a:t>сентября 2022 года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AD03845-5619-CB71-7C0F-B8D9E435FA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43472" y="5564221"/>
            <a:ext cx="4572000" cy="1211094"/>
          </a:xfrm>
        </p:spPr>
        <p:txBody>
          <a:bodyPr/>
          <a:lstStyle/>
          <a:p>
            <a:pPr algn="r"/>
            <a:r>
              <a:rPr lang="ru-RU" dirty="0"/>
              <a:t>Подготовил </a:t>
            </a:r>
          </a:p>
          <a:p>
            <a:pPr algn="r"/>
            <a:r>
              <a:rPr lang="ru-RU" dirty="0"/>
              <a:t>Васильев Алексей Владимирович</a:t>
            </a:r>
          </a:p>
        </p:txBody>
      </p:sp>
    </p:spTree>
    <p:extLst>
      <p:ext uri="{BB962C8B-B14F-4D97-AF65-F5344CB8AC3E}">
        <p14:creationId xmlns:p14="http://schemas.microsoft.com/office/powerpoint/2010/main" val="78007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059ACD-DE93-16F8-06FB-A43BBB6274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38703"/>
            <a:ext cx="9144000" cy="1825118"/>
          </a:xfrm>
        </p:spPr>
        <p:txBody>
          <a:bodyPr/>
          <a:lstStyle/>
          <a:p>
            <a:r>
              <a:rPr lang="ru-RU" dirty="0"/>
              <a:t>Содержание</a:t>
            </a:r>
          </a:p>
        </p:txBody>
      </p:sp>
      <p:graphicFrame>
        <p:nvGraphicFramePr>
          <p:cNvPr id="4" name="Схема 3">
            <a:extLst>
              <a:ext uri="{FF2B5EF4-FFF2-40B4-BE49-F238E27FC236}">
                <a16:creationId xmlns:a16="http://schemas.microsoft.com/office/drawing/2014/main" id="{7A7136A0-10EA-CEEF-5013-8861F1B6991E}"/>
              </a:ext>
            </a:extLst>
          </p:cNvPr>
          <p:cNvGraphicFramePr/>
          <p:nvPr/>
        </p:nvGraphicFramePr>
        <p:xfrm>
          <a:off x="1524000" y="3506821"/>
          <a:ext cx="6209489" cy="1828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3246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AD1ACB-0A6A-32E4-FF7D-C07BAA7960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2574" y="772168"/>
            <a:ext cx="8446851" cy="1251186"/>
          </a:xfrm>
        </p:spPr>
        <p:txBody>
          <a:bodyPr>
            <a:normAutofit fontScale="90000"/>
          </a:bodyPr>
          <a:lstStyle/>
          <a:p>
            <a:r>
              <a:rPr lang="ru-RU" dirty="0"/>
              <a:t>Анализ торговых точек 1-4 сентября</a:t>
            </a:r>
          </a:p>
        </p:txBody>
      </p:sp>
      <p:graphicFrame>
        <p:nvGraphicFramePr>
          <p:cNvPr id="4" name="Диаграмма 3">
            <a:extLst>
              <a:ext uri="{FF2B5EF4-FFF2-40B4-BE49-F238E27FC236}">
                <a16:creationId xmlns:a16="http://schemas.microsoft.com/office/drawing/2014/main" id="{C39174DF-275B-B3D0-83BB-2D499920E7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59727064"/>
              </p:ext>
            </p:extLst>
          </p:nvPr>
        </p:nvGraphicFramePr>
        <p:xfrm>
          <a:off x="2490282" y="2023354"/>
          <a:ext cx="7140102" cy="34922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Схема 6">
            <a:extLst>
              <a:ext uri="{FF2B5EF4-FFF2-40B4-BE49-F238E27FC236}">
                <a16:creationId xmlns:a16="http://schemas.microsoft.com/office/drawing/2014/main" id="{03C923D5-C05A-327F-B3AF-6BD6ACA146DC}"/>
              </a:ext>
            </a:extLst>
          </p:cNvPr>
          <p:cNvGraphicFramePr/>
          <p:nvPr/>
        </p:nvGraphicFramePr>
        <p:xfrm>
          <a:off x="3048810" y="5762666"/>
          <a:ext cx="6094378" cy="6463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54002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44EFDC-A6B2-35BD-1D61-02DDF2709E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58158"/>
            <a:ext cx="9144000" cy="1455467"/>
          </a:xfrm>
        </p:spPr>
        <p:txBody>
          <a:bodyPr>
            <a:normAutofit fontScale="90000"/>
          </a:bodyPr>
          <a:lstStyle/>
          <a:p>
            <a:r>
              <a:rPr lang="ru-RU" dirty="0"/>
              <a:t>Нагрузка на сервера 1-4 сентября</a:t>
            </a:r>
          </a:p>
        </p:txBody>
      </p:sp>
      <p:graphicFrame>
        <p:nvGraphicFramePr>
          <p:cNvPr id="4" name="Диаграмма 3">
            <a:extLst>
              <a:ext uri="{FF2B5EF4-FFF2-40B4-BE49-F238E27FC236}">
                <a16:creationId xmlns:a16="http://schemas.microsoft.com/office/drawing/2014/main" id="{1EA7143B-40E0-334F-E223-9526C0FFFA5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59875909"/>
              </p:ext>
            </p:extLst>
          </p:nvPr>
        </p:nvGraphicFramePr>
        <p:xfrm>
          <a:off x="558800" y="2260600"/>
          <a:ext cx="5130800" cy="3307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4E9EF9B2-1261-0D92-999F-BC31DAF6F2E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58787799"/>
              </p:ext>
            </p:extLst>
          </p:nvPr>
        </p:nvGraphicFramePr>
        <p:xfrm>
          <a:off x="6096000" y="2099931"/>
          <a:ext cx="5130800" cy="3467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Схема 7">
            <a:extLst>
              <a:ext uri="{FF2B5EF4-FFF2-40B4-BE49-F238E27FC236}">
                <a16:creationId xmlns:a16="http://schemas.microsoft.com/office/drawing/2014/main" id="{51110EBD-C7D3-A6A8-D2FA-CAC44F91B0B7}"/>
              </a:ext>
            </a:extLst>
          </p:cNvPr>
          <p:cNvGraphicFramePr/>
          <p:nvPr/>
        </p:nvGraphicFramePr>
        <p:xfrm>
          <a:off x="3048811" y="5814655"/>
          <a:ext cx="6094378" cy="9233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435890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D3C288-9F1C-C683-FC01-05E6FFEF8B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8780"/>
            <a:ext cx="9144000" cy="959356"/>
          </a:xfrm>
        </p:spPr>
        <p:txBody>
          <a:bodyPr>
            <a:normAutofit fontScale="90000"/>
          </a:bodyPr>
          <a:lstStyle/>
          <a:p>
            <a:r>
              <a:rPr lang="ru-RU" dirty="0"/>
              <a:t>Анализ аномалии 1 сентября</a:t>
            </a:r>
          </a:p>
        </p:txBody>
      </p:sp>
      <p:graphicFrame>
        <p:nvGraphicFramePr>
          <p:cNvPr id="4" name="Диаграмма 3">
            <a:extLst>
              <a:ext uri="{FF2B5EF4-FFF2-40B4-BE49-F238E27FC236}">
                <a16:creationId xmlns:a16="http://schemas.microsoft.com/office/drawing/2014/main" id="{FD29AEBA-196B-0721-A176-D32DD30A6DA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22857404"/>
              </p:ext>
            </p:extLst>
          </p:nvPr>
        </p:nvGraphicFramePr>
        <p:xfrm>
          <a:off x="4343074" y="1420637"/>
          <a:ext cx="7630376" cy="44365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Схема 10">
            <a:extLst>
              <a:ext uri="{FF2B5EF4-FFF2-40B4-BE49-F238E27FC236}">
                <a16:creationId xmlns:a16="http://schemas.microsoft.com/office/drawing/2014/main" id="{9558742C-0530-F52B-F633-A3D5AF515FE0}"/>
              </a:ext>
            </a:extLst>
          </p:cNvPr>
          <p:cNvGraphicFramePr/>
          <p:nvPr/>
        </p:nvGraphicFramePr>
        <p:xfrm>
          <a:off x="556908" y="1420637"/>
          <a:ext cx="3786167" cy="147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2" name="Схема 11">
            <a:extLst>
              <a:ext uri="{FF2B5EF4-FFF2-40B4-BE49-F238E27FC236}">
                <a16:creationId xmlns:a16="http://schemas.microsoft.com/office/drawing/2014/main" id="{7313313B-252F-AB21-C230-57EDA80CF9F0}"/>
              </a:ext>
            </a:extLst>
          </p:cNvPr>
          <p:cNvGraphicFramePr/>
          <p:nvPr/>
        </p:nvGraphicFramePr>
        <p:xfrm>
          <a:off x="556907" y="3012432"/>
          <a:ext cx="3786167" cy="147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13" name="Схема 12">
            <a:extLst>
              <a:ext uri="{FF2B5EF4-FFF2-40B4-BE49-F238E27FC236}">
                <a16:creationId xmlns:a16="http://schemas.microsoft.com/office/drawing/2014/main" id="{8E2C4D95-AF89-6371-933C-B5DC16DC626F}"/>
              </a:ext>
            </a:extLst>
          </p:cNvPr>
          <p:cNvGraphicFramePr/>
          <p:nvPr/>
        </p:nvGraphicFramePr>
        <p:xfrm>
          <a:off x="556907" y="4735008"/>
          <a:ext cx="3786167" cy="12003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</p:spTree>
    <p:extLst>
      <p:ext uri="{BB962C8B-B14F-4D97-AF65-F5344CB8AC3E}">
        <p14:creationId xmlns:p14="http://schemas.microsoft.com/office/powerpoint/2010/main" val="1818829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id="{1A7B9024-5CE2-21DF-18CE-4DC21A20DB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14435979"/>
              </p:ext>
            </p:extLst>
          </p:nvPr>
        </p:nvGraphicFramePr>
        <p:xfrm>
          <a:off x="113488" y="2774157"/>
          <a:ext cx="3265737" cy="16557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Диаграмма 3">
            <a:extLst>
              <a:ext uri="{FF2B5EF4-FFF2-40B4-BE49-F238E27FC236}">
                <a16:creationId xmlns:a16="http://schemas.microsoft.com/office/drawing/2014/main" id="{2A83754D-13BF-C18E-ADAA-BF66FC0C2A9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11255583"/>
              </p:ext>
            </p:extLst>
          </p:nvPr>
        </p:nvGraphicFramePr>
        <p:xfrm>
          <a:off x="3671054" y="1222693"/>
          <a:ext cx="7787640" cy="47586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A400FFE3-83B4-52A7-518C-52DF12D19F42}"/>
              </a:ext>
            </a:extLst>
          </p:cNvPr>
          <p:cNvCxnSpPr>
            <a:cxnSpLocks/>
          </p:cNvCxnSpPr>
          <p:nvPr/>
        </p:nvCxnSpPr>
        <p:spPr>
          <a:xfrm flipH="1">
            <a:off x="7821038" y="1507787"/>
            <a:ext cx="2334639" cy="1108953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ED28B60-F21C-7633-0309-475354D8249E}"/>
              </a:ext>
            </a:extLst>
          </p:cNvPr>
          <p:cNvSpPr txBox="1"/>
          <p:nvPr/>
        </p:nvSpPr>
        <p:spPr>
          <a:xfrm>
            <a:off x="10350019" y="969178"/>
            <a:ext cx="154712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Падение количества транзакций в 16 часов дня</a:t>
            </a:r>
          </a:p>
        </p:txBody>
      </p:sp>
    </p:spTree>
    <p:extLst>
      <p:ext uri="{BB962C8B-B14F-4D97-AF65-F5344CB8AC3E}">
        <p14:creationId xmlns:p14="http://schemas.microsoft.com/office/powerpoint/2010/main" val="540859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C26BB6DB-FBE1-1D93-4231-FB90F57D813C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11183370"/>
              </p:ext>
            </p:extLst>
          </p:nvPr>
        </p:nvGraphicFramePr>
        <p:xfrm>
          <a:off x="369651" y="788617"/>
          <a:ext cx="5650149" cy="41361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Диаграмма 6">
            <a:extLst>
              <a:ext uri="{FF2B5EF4-FFF2-40B4-BE49-F238E27FC236}">
                <a16:creationId xmlns:a16="http://schemas.microsoft.com/office/drawing/2014/main" id="{B5189ECD-2AF9-F95D-8D0B-AF4253DD30D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07957571"/>
              </p:ext>
            </p:extLst>
          </p:nvPr>
        </p:nvGraphicFramePr>
        <p:xfrm>
          <a:off x="6172202" y="788616"/>
          <a:ext cx="5880208" cy="41361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Схема 13">
            <a:extLst>
              <a:ext uri="{FF2B5EF4-FFF2-40B4-BE49-F238E27FC236}">
                <a16:creationId xmlns:a16="http://schemas.microsoft.com/office/drawing/2014/main" id="{A638ED9A-6A5E-218C-5A0D-4BD3EC27E9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32661098"/>
              </p:ext>
            </p:extLst>
          </p:nvPr>
        </p:nvGraphicFramePr>
        <p:xfrm>
          <a:off x="369651" y="4896925"/>
          <a:ext cx="5650148" cy="12003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15" name="Схема 14">
            <a:extLst>
              <a:ext uri="{FF2B5EF4-FFF2-40B4-BE49-F238E27FC236}">
                <a16:creationId xmlns:a16="http://schemas.microsoft.com/office/drawing/2014/main" id="{288A4590-77FF-1B2A-A80D-FB85F772EA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32858064"/>
              </p:ext>
            </p:extLst>
          </p:nvPr>
        </p:nvGraphicFramePr>
        <p:xfrm>
          <a:off x="369652" y="6069383"/>
          <a:ext cx="5650148" cy="6463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graphicFrame>
        <p:nvGraphicFramePr>
          <p:cNvPr id="18" name="Схема 17">
            <a:extLst>
              <a:ext uri="{FF2B5EF4-FFF2-40B4-BE49-F238E27FC236}">
                <a16:creationId xmlns:a16="http://schemas.microsoft.com/office/drawing/2014/main" id="{0B2459DB-CB59-02CC-E405-9A73F4CB5B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54048030"/>
              </p:ext>
            </p:extLst>
          </p:nvPr>
        </p:nvGraphicFramePr>
        <p:xfrm>
          <a:off x="6172202" y="5497089"/>
          <a:ext cx="5880208" cy="9233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4" r:lo="rId15" r:qs="rId16" r:cs="rId17"/>
          </a:graphicData>
        </a:graphic>
      </p:graphicFrame>
    </p:spTree>
    <p:extLst>
      <p:ext uri="{BB962C8B-B14F-4D97-AF65-F5344CB8AC3E}">
        <p14:creationId xmlns:p14="http://schemas.microsoft.com/office/powerpoint/2010/main" val="4019662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5BFF69-CB24-B75F-DABB-4740034F4E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91623"/>
            <a:ext cx="9144000" cy="1105271"/>
          </a:xfrm>
        </p:spPr>
        <p:txBody>
          <a:bodyPr>
            <a:normAutofit fontScale="90000"/>
          </a:bodyPr>
          <a:lstStyle/>
          <a:p>
            <a:r>
              <a:rPr lang="ru-RU" dirty="0"/>
              <a:t>Возможное решение проблем аномалии 1 сентября</a:t>
            </a:r>
          </a:p>
        </p:txBody>
      </p:sp>
      <p:graphicFrame>
        <p:nvGraphicFramePr>
          <p:cNvPr id="4" name="Схема 3">
            <a:extLst>
              <a:ext uri="{FF2B5EF4-FFF2-40B4-BE49-F238E27FC236}">
                <a16:creationId xmlns:a16="http://schemas.microsoft.com/office/drawing/2014/main" id="{B9827B89-0315-5CA9-7FC1-DB3C367C1C7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98768603"/>
              </p:ext>
            </p:extLst>
          </p:nvPr>
        </p:nvGraphicFramePr>
        <p:xfrm>
          <a:off x="778213" y="2188723"/>
          <a:ext cx="10233497" cy="39980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196211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B05D7A-A1F9-1EEF-A7A5-F3B443C43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387" y="365126"/>
            <a:ext cx="11293813" cy="1259394"/>
          </a:xfrm>
        </p:spPr>
        <p:txBody>
          <a:bodyPr/>
          <a:lstStyle/>
          <a:p>
            <a:pPr algn="ctr"/>
            <a:r>
              <a:rPr lang="ru-RU" dirty="0"/>
              <a:t>Анализ сбоя в работе 1 сервера 05.09 и 06.09</a:t>
            </a:r>
          </a:p>
        </p:txBody>
      </p:sp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42B99DD1-E70B-7133-3BF6-9FB0A90C0D1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18287032"/>
              </p:ext>
            </p:extLst>
          </p:nvPr>
        </p:nvGraphicFramePr>
        <p:xfrm>
          <a:off x="593387" y="1624520"/>
          <a:ext cx="5181599" cy="40304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Диаграмма 6">
            <a:extLst>
              <a:ext uri="{FF2B5EF4-FFF2-40B4-BE49-F238E27FC236}">
                <a16:creationId xmlns:a16="http://schemas.microsoft.com/office/drawing/2014/main" id="{2E7F5E2C-9E3A-D18B-C320-130C80FD4DD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04795063"/>
              </p:ext>
            </p:extLst>
          </p:nvPr>
        </p:nvGraphicFramePr>
        <p:xfrm>
          <a:off x="6096000" y="1624520"/>
          <a:ext cx="4935167" cy="40304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Схема 12">
            <a:extLst>
              <a:ext uri="{FF2B5EF4-FFF2-40B4-BE49-F238E27FC236}">
                <a16:creationId xmlns:a16="http://schemas.microsoft.com/office/drawing/2014/main" id="{F14F31E8-D2F5-894F-A081-9D9FB154525D}"/>
              </a:ext>
            </a:extLst>
          </p:cNvPr>
          <p:cNvGraphicFramePr/>
          <p:nvPr/>
        </p:nvGraphicFramePr>
        <p:xfrm>
          <a:off x="517999" y="5729990"/>
          <a:ext cx="5256988" cy="9233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12" name="Схема 11">
            <a:extLst>
              <a:ext uri="{FF2B5EF4-FFF2-40B4-BE49-F238E27FC236}">
                <a16:creationId xmlns:a16="http://schemas.microsoft.com/office/drawing/2014/main" id="{F9D162AF-58EE-9CB7-2BE6-15E6E45930C9}"/>
              </a:ext>
            </a:extLst>
          </p:cNvPr>
          <p:cNvGraphicFramePr/>
          <p:nvPr/>
        </p:nvGraphicFramePr>
        <p:xfrm>
          <a:off x="6096000" y="5654946"/>
          <a:ext cx="5791200" cy="12003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  <p:extLst>
      <p:ext uri="{BB962C8B-B14F-4D97-AF65-F5344CB8AC3E}">
        <p14:creationId xmlns:p14="http://schemas.microsoft.com/office/powerpoint/2010/main" val="2046499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8E21D3-3AAF-5AD2-8DD6-DEC9F4A34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Анализ сбоя в работе 2 сервера 07.09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4EED3A8B-FDAA-4129-B6BC-129C564E59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5533900"/>
              </p:ext>
            </p:extLst>
          </p:nvPr>
        </p:nvGraphicFramePr>
        <p:xfrm>
          <a:off x="1961745" y="1690688"/>
          <a:ext cx="8268510" cy="39136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Схема 6">
            <a:extLst>
              <a:ext uri="{FF2B5EF4-FFF2-40B4-BE49-F238E27FC236}">
                <a16:creationId xmlns:a16="http://schemas.microsoft.com/office/drawing/2014/main" id="{FE2C456F-AF24-44C8-F167-ED6B6DB373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5531894"/>
              </p:ext>
            </p:extLst>
          </p:nvPr>
        </p:nvGraphicFramePr>
        <p:xfrm>
          <a:off x="3048811" y="5778230"/>
          <a:ext cx="6094378" cy="9233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27568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C298E0-ECEF-F9AD-B661-FCD8580A6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Анализ акции 7 сентября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A482B8B5-9293-BB5A-5FEA-7883837F409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606665413"/>
              </p:ext>
            </p:extLst>
          </p:nvPr>
        </p:nvGraphicFramePr>
        <p:xfrm>
          <a:off x="838200" y="1889248"/>
          <a:ext cx="5181600" cy="40246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Схема 8">
            <a:extLst>
              <a:ext uri="{FF2B5EF4-FFF2-40B4-BE49-F238E27FC236}">
                <a16:creationId xmlns:a16="http://schemas.microsoft.com/office/drawing/2014/main" id="{548BD1CD-E84C-8A73-FF1F-867162F402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706251"/>
              </p:ext>
            </p:extLst>
          </p:nvPr>
        </p:nvGraphicFramePr>
        <p:xfrm>
          <a:off x="758757" y="6063045"/>
          <a:ext cx="4804655" cy="6198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2" name="Схема 11">
            <a:extLst>
              <a:ext uri="{FF2B5EF4-FFF2-40B4-BE49-F238E27FC236}">
                <a16:creationId xmlns:a16="http://schemas.microsoft.com/office/drawing/2014/main" id="{5D698661-5066-8082-04A8-31578059AA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25554626"/>
              </p:ext>
            </p:extLst>
          </p:nvPr>
        </p:nvGraphicFramePr>
        <p:xfrm>
          <a:off x="6019800" y="5850235"/>
          <a:ext cx="5790389" cy="9233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15" name="Объект 14">
            <a:extLst>
              <a:ext uri="{FF2B5EF4-FFF2-40B4-BE49-F238E27FC236}">
                <a16:creationId xmlns:a16="http://schemas.microsoft.com/office/drawing/2014/main" id="{F9A1455C-487F-160A-7C52-88335988AC4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79610832"/>
              </p:ext>
            </p:extLst>
          </p:nvPr>
        </p:nvGraphicFramePr>
        <p:xfrm>
          <a:off x="6172200" y="1825625"/>
          <a:ext cx="5181600" cy="40246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</p:spTree>
    <p:extLst>
      <p:ext uri="{BB962C8B-B14F-4D97-AF65-F5344CB8AC3E}">
        <p14:creationId xmlns:p14="http://schemas.microsoft.com/office/powerpoint/2010/main" val="11236551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81CC9D-84CE-02D7-12D1-5C7240AE8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Сравнение денежных потерь при изменении  программы лояльности</a:t>
            </a:r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507CEE3F-EFF6-44E0-922E-793C1EA9360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960458142"/>
              </p:ext>
            </p:extLst>
          </p:nvPr>
        </p:nvGraphicFramePr>
        <p:xfrm>
          <a:off x="352967" y="1695753"/>
          <a:ext cx="5666835" cy="4255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Объект 7">
            <a:extLst>
              <a:ext uri="{FF2B5EF4-FFF2-40B4-BE49-F238E27FC236}">
                <a16:creationId xmlns:a16="http://schemas.microsoft.com/office/drawing/2014/main" id="{FCB46450-3907-4AD6-B407-B91944A2D738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1303093211"/>
              </p:ext>
            </p:extLst>
          </p:nvPr>
        </p:nvGraphicFramePr>
        <p:xfrm>
          <a:off x="6172200" y="1695754"/>
          <a:ext cx="5520447" cy="42556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2" name="Схема 11">
            <a:extLst>
              <a:ext uri="{FF2B5EF4-FFF2-40B4-BE49-F238E27FC236}">
                <a16:creationId xmlns:a16="http://schemas.microsoft.com/office/drawing/2014/main" id="{96BAAC02-4A5B-6509-8F89-73D2FCACF5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28033949"/>
              </p:ext>
            </p:extLst>
          </p:nvPr>
        </p:nvGraphicFramePr>
        <p:xfrm>
          <a:off x="2595665" y="6074903"/>
          <a:ext cx="6848273" cy="5690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8664711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E7AB58-5B52-A034-FCFF-38D81F5E67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9969"/>
            <a:ext cx="9144000" cy="1095961"/>
          </a:xfrm>
        </p:spPr>
        <p:txBody>
          <a:bodyPr>
            <a:noAutofit/>
          </a:bodyPr>
          <a:lstStyle/>
          <a:p>
            <a:r>
              <a:rPr lang="ru-RU" sz="3600" dirty="0"/>
              <a:t>Создание рабочего дашборда для анализа работы торговых точек в </a:t>
            </a:r>
            <a:r>
              <a:rPr lang="en-US" sz="3600" dirty="0"/>
              <a:t>Google sheets</a:t>
            </a:r>
            <a:endParaRPr lang="ru-RU" sz="36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E6D8501-66DC-CFA5-9288-04D138DF35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5891" y="1301967"/>
            <a:ext cx="8371811" cy="5182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5A7B48C-2EA9-F01E-9379-8F685B624E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555677" y="3419666"/>
            <a:ext cx="3362680" cy="947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5355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6BF35BA6-B15E-F26A-0F8A-0CE6FE206A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0228" y="573781"/>
            <a:ext cx="9235840" cy="5710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4FAF401-1235-725B-6EDA-3B3D2EA3C5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674" r="1196" b="3684"/>
          <a:stretch>
            <a:fillRect/>
          </a:stretch>
        </p:blipFill>
        <p:spPr>
          <a:xfrm rot="16200000">
            <a:off x="-1363126" y="3127442"/>
            <a:ext cx="4297225" cy="603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4558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DB2105-C788-7AD1-9315-26B684400F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21972"/>
            <a:ext cx="9144000" cy="1766752"/>
          </a:xfrm>
        </p:spPr>
        <p:txBody>
          <a:bodyPr>
            <a:normAutofit/>
          </a:bodyPr>
          <a:lstStyle/>
          <a:p>
            <a:r>
              <a:rPr lang="ru-RU" dirty="0"/>
              <a:t>Корректировка калькулятора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4CBF6E6-D4E4-AA1C-36EF-43DA3DC304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25048"/>
            <a:ext cx="12042843" cy="2807904"/>
          </a:xfrm>
          <a:prstGeom prst="rect">
            <a:avLst/>
          </a:prstGeom>
        </p:spPr>
      </p:pic>
      <p:graphicFrame>
        <p:nvGraphicFramePr>
          <p:cNvPr id="9" name="Схема 8">
            <a:extLst>
              <a:ext uri="{FF2B5EF4-FFF2-40B4-BE49-F238E27FC236}">
                <a16:creationId xmlns:a16="http://schemas.microsoft.com/office/drawing/2014/main" id="{ACBA276F-C7A1-1D6F-D143-A0D652500528}"/>
              </a:ext>
            </a:extLst>
          </p:cNvPr>
          <p:cNvGraphicFramePr/>
          <p:nvPr/>
        </p:nvGraphicFramePr>
        <p:xfrm>
          <a:off x="5282315" y="5583677"/>
          <a:ext cx="1627369" cy="3693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878845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9C92B86-AA68-293D-6901-C5999AB3C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884" y="1090166"/>
            <a:ext cx="11446232" cy="3374829"/>
          </a:xfrm>
          <a:prstGeom prst="rect">
            <a:avLst/>
          </a:prstGeom>
        </p:spPr>
      </p:pic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id="{A5A1E5DE-D664-F9EE-4F24-EE2EC8288CB1}"/>
              </a:ext>
            </a:extLst>
          </p:cNvPr>
          <p:cNvGraphicFramePr/>
          <p:nvPr/>
        </p:nvGraphicFramePr>
        <p:xfrm>
          <a:off x="2932313" y="5145932"/>
          <a:ext cx="6327373" cy="3693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397188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D4A6AF-416E-FD32-BEF0-87A1F223A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 корректировки</a:t>
            </a:r>
          </a:p>
        </p:txBody>
      </p:sp>
      <p:graphicFrame>
        <p:nvGraphicFramePr>
          <p:cNvPr id="4" name="Схема 3">
            <a:extLst>
              <a:ext uri="{FF2B5EF4-FFF2-40B4-BE49-F238E27FC236}">
                <a16:creationId xmlns:a16="http://schemas.microsoft.com/office/drawing/2014/main" id="{2E2CD44D-2729-3129-1273-49F14AB846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78542121"/>
              </p:ext>
            </p:extLst>
          </p:nvPr>
        </p:nvGraphicFramePr>
        <p:xfrm>
          <a:off x="2671864" y="3051883"/>
          <a:ext cx="6848272" cy="15784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E7B3A33-B6C8-0D26-1813-62D9F2AA0615}"/>
              </a:ext>
            </a:extLst>
          </p:cNvPr>
          <p:cNvSpPr txBox="1"/>
          <p:nvPr/>
        </p:nvSpPr>
        <p:spPr>
          <a:xfrm>
            <a:off x="2822644" y="2128553"/>
            <a:ext cx="28583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/>
              <a:t>Затраты, полученные из варианта калькулятора предыдущего сотрудника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979735-83CF-6DA8-F739-7487477ACA9E}"/>
              </a:ext>
            </a:extLst>
          </p:cNvPr>
          <p:cNvSpPr txBox="1"/>
          <p:nvPr/>
        </p:nvSpPr>
        <p:spPr>
          <a:xfrm>
            <a:off x="7046312" y="2128553"/>
            <a:ext cx="28583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/>
              <a:t>Затраты, полученные из обновлённого варианта калькулятора</a:t>
            </a:r>
          </a:p>
        </p:txBody>
      </p:sp>
    </p:spTree>
    <p:extLst>
      <p:ext uri="{BB962C8B-B14F-4D97-AF65-F5344CB8AC3E}">
        <p14:creationId xmlns:p14="http://schemas.microsoft.com/office/powerpoint/2010/main" val="750871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0B01936-9BCC-3C61-8F55-0FC7D4F99F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51" t="2370" r="6521" b="2074"/>
          <a:stretch>
            <a:fillRect/>
          </a:stretch>
        </p:blipFill>
        <p:spPr>
          <a:xfrm>
            <a:off x="2235199" y="1"/>
            <a:ext cx="8017703" cy="6804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78152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Sheets">
    <a:dk1>
      <a:srgbClr val="000000"/>
    </a:dk1>
    <a:lt1>
      <a:srgbClr val="FFFFFF"/>
    </a:lt1>
    <a:dk2>
      <a:srgbClr val="000000"/>
    </a:dk2>
    <a:lt2>
      <a:srgbClr val="FFFFFF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0563C1"/>
    </a:folHlink>
  </a:clrScheme>
  <a:fontScheme name="Sheets">
    <a:majorFont>
      <a:latin typeface="Calibri"/>
      <a:ea typeface="Calibri"/>
      <a:cs typeface="Calibri"/>
    </a:majorFont>
    <a:minorFont>
      <a:latin typeface="Calibri"/>
      <a:ea typeface="Calibri"/>
      <a:cs typeface="Calibri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Sheets">
    <a:dk1>
      <a:srgbClr val="000000"/>
    </a:dk1>
    <a:lt1>
      <a:srgbClr val="FFFFFF"/>
    </a:lt1>
    <a:dk2>
      <a:srgbClr val="000000"/>
    </a:dk2>
    <a:lt2>
      <a:srgbClr val="FFFFFF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0563C1"/>
    </a:folHlink>
  </a:clrScheme>
  <a:fontScheme name="Sheets">
    <a:majorFont>
      <a:latin typeface="Calibri"/>
      <a:ea typeface="Calibri"/>
      <a:cs typeface="Calibri"/>
    </a:majorFont>
    <a:minorFont>
      <a:latin typeface="Calibri"/>
      <a:ea typeface="Calibri"/>
      <a:cs typeface="Calibri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Sheets">
    <a:dk1>
      <a:srgbClr val="000000"/>
    </a:dk1>
    <a:lt1>
      <a:srgbClr val="FFFFFF"/>
    </a:lt1>
    <a:dk2>
      <a:srgbClr val="000000"/>
    </a:dk2>
    <a:lt2>
      <a:srgbClr val="FFFFFF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0563C1"/>
    </a:folHlink>
  </a:clrScheme>
  <a:fontScheme name="Sheets">
    <a:majorFont>
      <a:latin typeface="Calibri"/>
      <a:ea typeface="Calibri"/>
      <a:cs typeface="Calibri"/>
    </a:majorFont>
    <a:minorFont>
      <a:latin typeface="Calibri"/>
      <a:ea typeface="Calibri"/>
      <a:cs typeface="Calibri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581</Words>
  <Application>Microsoft Office PowerPoint</Application>
  <PresentationFormat>Широкоэкранный</PresentationFormat>
  <Paragraphs>90</Paragraphs>
  <Slides>18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Тема Office</vt:lpstr>
      <vt:lpstr>Курсовая работа Анализ SkyCrossroads 1-7 сентября 2022 года</vt:lpstr>
      <vt:lpstr>Содержание</vt:lpstr>
      <vt:lpstr>Анализ торговых точек 1-4 сентября</vt:lpstr>
      <vt:lpstr>Нагрузка на сервера 1-4 сентября</vt:lpstr>
      <vt:lpstr>Анализ аномалии 1 сентября</vt:lpstr>
      <vt:lpstr>Презентация PowerPoint</vt:lpstr>
      <vt:lpstr>Презентация PowerPoint</vt:lpstr>
      <vt:lpstr>Возможное решение проблем аномалии 1 сентября</vt:lpstr>
      <vt:lpstr>Анализ сбоя в работе 1 сервера 05.09 и 06.09</vt:lpstr>
      <vt:lpstr>Анализ сбоя в работе 2 сервера 07.09</vt:lpstr>
      <vt:lpstr>Анализ акции 7 сентября</vt:lpstr>
      <vt:lpstr>Сравнение денежных потерь при изменении  программы лояльности</vt:lpstr>
      <vt:lpstr>Создание рабочего дашборда для анализа работы торговых точек в Google sheets</vt:lpstr>
      <vt:lpstr>Презентация PowerPoint</vt:lpstr>
      <vt:lpstr>Корректировка калькулятора</vt:lpstr>
      <vt:lpstr>Презентация PowerPoint</vt:lpstr>
      <vt:lpstr>Итог корректировки</vt:lpstr>
      <vt:lpstr>Презентация PowerPoint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Алексей Васильев</dc:creator>
  <cp:lastModifiedBy>Алексей Васильев</cp:lastModifiedBy>
  <cp:revision>1</cp:revision>
  <dcterms:created xsi:type="dcterms:W3CDTF">2025-11-02T14:38:02Z</dcterms:created>
  <dcterms:modified xsi:type="dcterms:W3CDTF">2025-11-02T16:59:02Z</dcterms:modified>
</cp:coreProperties>
</file>